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Welcome judges! Today we present an end-to-end Electricity Theft Detection platform. We specifically separate our technical contributions into a high-performance Python FastAPI ML backend and a real-time Streamlit operator interface.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Why can't we just fit XGBoost on historical labels and call it a day? First, confirmed theft labels are sparse and biased—they only represent what inspectors caught in the past. Second, utility operators need clear reasons, not black-box scores, before dispatching field crews.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Our framework solves both problems by pairing a supervised XGBoost classifier with an unsupervised Isolation Forest. Plus, every prediction is powered by SHAP TreeExplainer to break down the exact drivers.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Notice how cleanly our solution separates responsibilities: The backend handles feature extraction, ensemble scoring, SHAP computations, and REST endpoints via FastAPI. The frontend handles interactive scan parameterization, transformer cluster visualization, and human-in-the-loop audit log inspection via Streamlit.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Raw usage series alone isn't enough. We engineer 15 domain features spanning distribution, tamper bypass streaks, weekly periodicity disruption, and crucial transformer peer divergence.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Our composite risk score combines supervised and anomaly signals. Reporting both components separately prevents false accusations—an account with high anomaly but low supervised score is triaged as 'needs human review' rather than a definitive theft call.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On Slide 7 we highlight the bridge between backend machine learning and frontend user experience. The backend calculates Shapley values and translates them to reasons; the frontend renders them as interactive audit logs for grid operators.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We provide an out-of-the-box synthetic generator for quick deployment, and our codebase drops directly into standard industry benchmarks like the 42,000-consumer SGCC dataset.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In a real pitch, honesty builds trust. Real grid data is messier than synthetic demos, peer comparison requires correct feeder topology, and our tool is designed for human decision support, not automatic billing fines.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To summarize our technical achievements: Our backend brings robust ML engineering, feature extraction, and API design. Our frontend delivers a slick, operator-centric Streamlit interface that turns complex AI outputs into actionable grid insights.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3657600"/>
          </a:xfrm>
          <a:prstGeom prst="rect">
            <a:avLst/>
          </a:prstGeom>
          <a:noFill/>
        </p:spPr>
        <p:txBody>
          <a:bodyPr wrap="square">
            <a:spAutoFit/>
          </a:bodyPr>
          <a:lstStyle/>
          <a:p>
            <a:pPr>
              <a:spcAft>
                <a:spcPts val="1400"/>
              </a:spcAft>
              <a:defRPr sz="3600" b="1">
                <a:solidFill>
                  <a:srgbClr val="06B6D4"/>
                </a:solidFill>
              </a:defRPr>
            </a:pPr>
            <a:r>
              <a:t>⚡ ELECTRICITY THEFT DETECTION</a:t>
            </a:r>
          </a:p>
          <a:p>
            <a:pPr>
              <a:spcAft>
                <a:spcPts val="2400"/>
              </a:spcAft>
              <a:defRPr sz="2200" b="1">
                <a:solidFill>
                  <a:srgbClr val="F8FAFC"/>
                </a:solidFill>
              </a:defRPr>
            </a:pPr>
            <a:r>
              <a:t>Dual-Signal Machine Learning &amp; Explainable AI (XAI) for Smart Meter Data</a:t>
            </a:r>
          </a:p>
          <a:p>
            <a:pPr>
              <a:defRPr sz="1600">
                <a:solidFill>
                  <a:srgbClr val="94A3B8"/>
                </a:solidFill>
              </a:defRPr>
            </a:pPr>
            <a:r>
              <a:t>Full Stack Architecture: Modular FastAPI ML Backend + Interactive Streamlit Operator Dashboard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The Problem: Flaws in Traditional Theft Detection</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1. Sparse &amp; Biased Ground Truth</a:t>
            </a:r>
          </a:p>
          <a:p>
            <a:pPr>
              <a:spcAft>
                <a:spcPts val="800"/>
              </a:spcAft>
              <a:defRPr sz="1300">
                <a:solidFill>
                  <a:srgbClr val="F8FAFC"/>
                </a:solidFill>
                <a:latin typeface="Arial"/>
              </a:defRPr>
            </a:pPr>
            <a:r>
              <a:t>• Historical theft labels are severely incomplete.</a:t>
            </a:r>
          </a:p>
          <a:p>
            <a:pPr>
              <a:spcAft>
                <a:spcPts val="800"/>
              </a:spcAft>
              <a:defRPr sz="1300">
                <a:solidFill>
                  <a:srgbClr val="F8FAFC"/>
                </a:solidFill>
                <a:latin typeface="Arial"/>
              </a:defRPr>
            </a:pPr>
            <a:r>
              <a:t>• Models trained ONLY on past labels only learn what inspectors already knew.</a:t>
            </a:r>
          </a:p>
          <a:p>
            <a:pPr>
              <a:spcAft>
                <a:spcPts val="800"/>
              </a:spcAft>
              <a:defRPr sz="1300">
                <a:solidFill>
                  <a:srgbClr val="F8FAFC"/>
                </a:solidFill>
                <a:latin typeface="Arial"/>
              </a:defRPr>
            </a:pPr>
            <a:r>
              <a:t>• Novel meter bypasses ('zero-day theft') go completely undetected.</a:t>
            </a:r>
          </a:p>
          <a:p>
            <a:pPr>
              <a:spcAft>
                <a:spcPts val="800"/>
              </a:spcAft>
              <a:defRPr sz="1300">
                <a:solidFill>
                  <a:srgbClr val="F8FAFC"/>
                </a:solidFill>
                <a:latin typeface="Arial"/>
              </a:defRPr>
            </a:pPr>
            <a:r>
              <a:t>• Overfits to known fraud signatures while missing evolving tampering tricks.</a:t>
            </a:r>
          </a:p>
        </p:txBody>
      </p:sp>
      <p:sp>
        <p:nvSpPr>
          <p:cNvPr id="6" name="Rounded Rectangle 5"/>
          <p:cNvSpPr/>
          <p:nvPr/>
        </p:nvSpPr>
        <p:spPr>
          <a:xfrm>
            <a:off x="630936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2. Black-Box Risk Scores</a:t>
            </a:r>
          </a:p>
          <a:p>
            <a:pPr>
              <a:spcAft>
                <a:spcPts val="800"/>
              </a:spcAft>
              <a:defRPr sz="1300">
                <a:solidFill>
                  <a:srgbClr val="F8FAFC"/>
                </a:solidFill>
                <a:latin typeface="Arial"/>
              </a:defRPr>
            </a:pPr>
            <a:r>
              <a:t>• Utilities receive single raw probability numbers with zero context.</a:t>
            </a:r>
          </a:p>
          <a:p>
            <a:pPr>
              <a:spcAft>
                <a:spcPts val="800"/>
              </a:spcAft>
              <a:defRPr sz="1300">
                <a:solidFill>
                  <a:srgbClr val="F8FAFC"/>
                </a:solidFill>
                <a:latin typeface="Arial"/>
              </a:defRPr>
            </a:pPr>
            <a:r>
              <a:t>• Field inspections are costly and labor-intensive to dispatch.</a:t>
            </a:r>
          </a:p>
          <a:p>
            <a:pPr>
              <a:spcAft>
                <a:spcPts val="800"/>
              </a:spcAft>
              <a:defRPr sz="1300">
                <a:solidFill>
                  <a:srgbClr val="F8FAFC"/>
                </a:solidFill>
                <a:latin typeface="Arial"/>
              </a:defRPr>
            </a:pPr>
            <a:r>
              <a:t>• Without human-readable justifications, inspector trust rapidly degrades.</a:t>
            </a:r>
          </a:p>
          <a:p>
            <a:pPr>
              <a:spcAft>
                <a:spcPts val="800"/>
              </a:spcAft>
              <a:defRPr sz="1300">
                <a:solidFill>
                  <a:srgbClr val="F8FAFC"/>
                </a:solidFill>
                <a:latin typeface="Arial"/>
              </a:defRPr>
            </a:pPr>
            <a:r>
              <a:t>• High false-alarm rates waste field staff time and grid operational budget.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The Solution: Dual-Signal ML + Explainability Engine</a:t>
            </a:r>
          </a:p>
        </p:txBody>
      </p:sp>
      <p:sp>
        <p:nvSpPr>
          <p:cNvPr id="5" name="Rounded Rectangle 4"/>
          <p:cNvSpPr/>
          <p:nvPr/>
        </p:nvSpPr>
        <p:spPr>
          <a:xfrm>
            <a:off x="731520" y="1645920"/>
            <a:ext cx="32918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Supervised Signal</a:t>
            </a:r>
          </a:p>
          <a:p>
            <a:pPr>
              <a:spcAft>
                <a:spcPts val="800"/>
              </a:spcAft>
              <a:defRPr sz="1300">
                <a:solidFill>
                  <a:srgbClr val="F8FAFC"/>
                </a:solidFill>
                <a:latin typeface="Arial"/>
              </a:defRPr>
            </a:pPr>
            <a:r>
              <a:t>• XGBoost (Class-Weighted)</a:t>
            </a:r>
          </a:p>
          <a:p>
            <a:pPr>
              <a:spcAft>
                <a:spcPts val="800"/>
              </a:spcAft>
              <a:defRPr sz="1300">
                <a:solidFill>
                  <a:srgbClr val="F8FAFC"/>
                </a:solidFill>
                <a:latin typeface="Arial"/>
              </a:defRPr>
            </a:pPr>
            <a:r>
              <a:t>• Detects patterns matching historical confirmed theft cases.</a:t>
            </a:r>
          </a:p>
          <a:p>
            <a:pPr>
              <a:spcAft>
                <a:spcPts val="800"/>
              </a:spcAft>
              <a:defRPr sz="1300">
                <a:solidFill>
                  <a:srgbClr val="F8FAFC"/>
                </a:solidFill>
                <a:latin typeface="Arial"/>
              </a:defRPr>
            </a:pPr>
            <a:r>
              <a:t>• Provides precise probability score based on domain features.</a:t>
            </a:r>
          </a:p>
        </p:txBody>
      </p:sp>
      <p:sp>
        <p:nvSpPr>
          <p:cNvPr id="6" name="Rounded Rectangle 5"/>
          <p:cNvSpPr/>
          <p:nvPr/>
        </p:nvSpPr>
        <p:spPr>
          <a:xfrm>
            <a:off x="4389120" y="1645920"/>
            <a:ext cx="32918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Unsupervised Signal</a:t>
            </a:r>
          </a:p>
          <a:p>
            <a:pPr>
              <a:spcAft>
                <a:spcPts val="800"/>
              </a:spcAft>
              <a:defRPr sz="1300">
                <a:solidFill>
                  <a:srgbClr val="F8FAFC"/>
                </a:solidFill>
                <a:latin typeface="Arial"/>
              </a:defRPr>
            </a:pPr>
            <a:r>
              <a:t>• Isolation Forest</a:t>
            </a:r>
          </a:p>
          <a:p>
            <a:pPr>
              <a:spcAft>
                <a:spcPts val="800"/>
              </a:spcAft>
              <a:defRPr sz="1300">
                <a:solidFill>
                  <a:srgbClr val="F8FAFC"/>
                </a:solidFill>
                <a:latin typeface="Arial"/>
              </a:defRPr>
            </a:pPr>
            <a:r>
              <a:t>• Flags novel, zero-day statistical anomalies.</a:t>
            </a:r>
          </a:p>
          <a:p>
            <a:pPr>
              <a:spcAft>
                <a:spcPts val="800"/>
              </a:spcAft>
              <a:defRPr sz="1300">
                <a:solidFill>
                  <a:srgbClr val="F8FAFC"/>
                </a:solidFill>
                <a:latin typeface="Arial"/>
              </a:defRPr>
            </a:pPr>
            <a:r>
              <a:t>• Works even without confirmed ground-truth labels.</a:t>
            </a:r>
          </a:p>
        </p:txBody>
      </p:sp>
      <p:sp>
        <p:nvSpPr>
          <p:cNvPr id="7" name="Rounded Rectangle 6"/>
          <p:cNvSpPr/>
          <p:nvPr/>
        </p:nvSpPr>
        <p:spPr>
          <a:xfrm>
            <a:off x="8046720" y="1645920"/>
            <a:ext cx="32918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Explainability (XAI)</a:t>
            </a:r>
          </a:p>
          <a:p>
            <a:pPr>
              <a:spcAft>
                <a:spcPts val="800"/>
              </a:spcAft>
              <a:defRPr sz="1300">
                <a:solidFill>
                  <a:srgbClr val="F8FAFC"/>
                </a:solidFill>
                <a:latin typeface="Arial"/>
              </a:defRPr>
            </a:pPr>
            <a:r>
              <a:t>• SHAP TreeExplainer</a:t>
            </a:r>
          </a:p>
          <a:p>
            <a:pPr>
              <a:spcAft>
                <a:spcPts val="800"/>
              </a:spcAft>
              <a:defRPr sz="1300">
                <a:solidFill>
                  <a:srgbClr val="F8FAFC"/>
                </a:solidFill>
                <a:latin typeface="Arial"/>
              </a:defRPr>
            </a:pPr>
            <a:r>
              <a:t>• Generates per-account feature attribution summaries.</a:t>
            </a:r>
          </a:p>
          <a:p>
            <a:pPr>
              <a:spcAft>
                <a:spcPts val="800"/>
              </a:spcAft>
              <a:defRPr sz="1300">
                <a:solidFill>
                  <a:srgbClr val="F8FAFC"/>
                </a:solidFill>
                <a:latin typeface="Arial"/>
              </a:defRPr>
            </a:pPr>
            <a:r>
              <a:t>• Tells inspectors exactly WHY an account was flagged.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System Architecture: Backend vs. Frontend Split</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3B82F6"/>
                </a:solidFill>
                <a:latin typeface="Arial"/>
              </a:defRPr>
            </a:pPr>
            <a:r>
              <a:t>⚙️ Backend Engine (FastAPI + ML)</a:t>
            </a:r>
          </a:p>
          <a:p>
            <a:pPr>
              <a:spcAft>
                <a:spcPts val="800"/>
              </a:spcAft>
              <a:defRPr sz="1300">
                <a:solidFill>
                  <a:srgbClr val="F8FAFC"/>
                </a:solidFill>
                <a:latin typeface="Arial"/>
              </a:defRPr>
            </a:pPr>
            <a:r>
              <a:t>• Feature Engineering Engine (src/features.py): Computes 15 domain features per consumer series.</a:t>
            </a:r>
          </a:p>
          <a:p>
            <a:pPr>
              <a:spcAft>
                <a:spcPts val="800"/>
              </a:spcAft>
              <a:defRPr sz="1300">
                <a:solidFill>
                  <a:srgbClr val="F8FAFC"/>
                </a:solidFill>
                <a:latin typeface="Arial"/>
              </a:defRPr>
            </a:pPr>
            <a:r>
              <a:t>• Ensemble Engine (src/models.py): Combines XGBoost + Isolation Forest risk components.</a:t>
            </a:r>
          </a:p>
          <a:p>
            <a:pPr>
              <a:spcAft>
                <a:spcPts val="800"/>
              </a:spcAft>
              <a:defRPr sz="1300">
                <a:solidFill>
                  <a:srgbClr val="F8FAFC"/>
                </a:solidFill>
                <a:latin typeface="Arial"/>
              </a:defRPr>
            </a:pPr>
            <a:r>
              <a:t>• SHAP Reason Generator (src/explain.py): Computes exact feature attributions.</a:t>
            </a:r>
          </a:p>
          <a:p>
            <a:pPr>
              <a:spcAft>
                <a:spcPts val="800"/>
              </a:spcAft>
              <a:defRPr sz="1300">
                <a:solidFill>
                  <a:srgbClr val="F8FAFC"/>
                </a:solidFill>
                <a:latin typeface="Arial"/>
              </a:defRPr>
            </a:pPr>
            <a:r>
              <a:t>• REST API Service (src/api.py): Serves POST /scan (population rank) &amp; POST /score (ad-hoc series).</a:t>
            </a:r>
          </a:p>
        </p:txBody>
      </p:sp>
      <p:sp>
        <p:nvSpPr>
          <p:cNvPr id="6" name="Rounded Rectangle 5"/>
          <p:cNvSpPr/>
          <p:nvPr/>
        </p:nvSpPr>
        <p:spPr>
          <a:xfrm>
            <a:off x="630936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10B981"/>
                </a:solidFill>
                <a:latin typeface="Arial"/>
              </a:defRPr>
            </a:pPr>
            <a:r>
              <a:t>🖥️ Frontend UI (Streamlit Dashboard)</a:t>
            </a:r>
          </a:p>
          <a:p>
            <a:pPr>
              <a:spcAft>
                <a:spcPts val="800"/>
              </a:spcAft>
              <a:defRPr sz="1300">
                <a:solidFill>
                  <a:srgbClr val="F8FAFC"/>
                </a:solidFill>
                <a:latin typeface="Arial"/>
              </a:defRPr>
            </a:pPr>
            <a:r>
              <a:t>• Interactive Scan Controls: Dynamic slider (top 5-100 suspects) &amp; asynchronous trigger.</a:t>
            </a:r>
          </a:p>
          <a:p>
            <a:pPr>
              <a:spcAft>
                <a:spcPts val="800"/>
              </a:spcAft>
              <a:defRPr sz="1300">
                <a:solidFill>
                  <a:srgbClr val="F8FAFC"/>
                </a:solidFill>
                <a:latin typeface="Arial"/>
              </a:defRPr>
            </a:pPr>
            <a:r>
              <a:t>• Summary KPI Metrics: Displays Monitored Consumers, Flagged Cases &amp; Risk Threshold.</a:t>
            </a:r>
          </a:p>
          <a:p>
            <a:pPr>
              <a:spcAft>
                <a:spcPts val="800"/>
              </a:spcAft>
              <a:defRPr sz="1300">
                <a:solidFill>
                  <a:srgbClr val="F8FAFC"/>
                </a:solidFill>
                <a:latin typeface="Arial"/>
              </a:defRPr>
            </a:pPr>
            <a:r>
              <a:t>• Ranked Suspects Table: Clean grid sorted by overall risk, ML prob &amp; anomaly score.</a:t>
            </a:r>
          </a:p>
          <a:p>
            <a:pPr>
              <a:spcAft>
                <a:spcPts val="800"/>
              </a:spcAft>
              <a:defRPr sz="1300">
                <a:solidFill>
                  <a:srgbClr val="F8FAFC"/>
                </a:solidFill>
                <a:latin typeface="Arial"/>
              </a:defRPr>
            </a:pPr>
            <a:r>
              <a:t>• Geographic Cluster Chart: Plotly bar chart displaying suspect counts by transformer feeder.</a:t>
            </a:r>
          </a:p>
          <a:p>
            <a:pPr>
              <a:spcAft>
                <a:spcPts val="800"/>
              </a:spcAft>
              <a:defRPr sz="1300">
                <a:solidFill>
                  <a:srgbClr val="F8FAFC"/>
                </a:solidFill>
                <a:latin typeface="Arial"/>
              </a:defRPr>
            </a:pPr>
            <a:r>
              <a:t>• Audit Log Inspector: Renders automated SHAP reasons per selected consumer.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Domain-Engineered Feature Suite (15 Indicators)</a:t>
            </a:r>
          </a:p>
        </p:txBody>
      </p:sp>
      <p:sp>
        <p:nvSpPr>
          <p:cNvPr id="5" name="Rounded Rectangle 4"/>
          <p:cNvSpPr/>
          <p:nvPr/>
        </p:nvSpPr>
        <p:spPr>
          <a:xfrm>
            <a:off x="731520" y="1645920"/>
            <a:ext cx="32918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Consumption Dynamics</a:t>
            </a:r>
          </a:p>
          <a:p>
            <a:pPr>
              <a:spcAft>
                <a:spcPts val="800"/>
              </a:spcAft>
              <a:defRPr sz="1300">
                <a:solidFill>
                  <a:srgbClr val="F8FAFC"/>
                </a:solidFill>
                <a:latin typeface="Arial"/>
              </a:defRPr>
            </a:pPr>
            <a:r>
              <a:t>• Mean, Std, Skewness, Kurtosis</a:t>
            </a:r>
          </a:p>
          <a:p>
            <a:pPr>
              <a:spcAft>
                <a:spcPts val="800"/>
              </a:spcAft>
              <a:defRPr sz="1300">
                <a:solidFill>
                  <a:srgbClr val="F8FAFC"/>
                </a:solidFill>
                <a:latin typeface="Arial"/>
              </a:defRPr>
            </a:pPr>
            <a:r>
              <a:t>• Coefficient of Variation (CV)</a:t>
            </a:r>
          </a:p>
          <a:p>
            <a:pPr>
              <a:spcAft>
                <a:spcPts val="800"/>
              </a:spcAft>
              <a:defRPr sz="1300">
                <a:solidFill>
                  <a:srgbClr val="F8FAFC"/>
                </a:solidFill>
                <a:latin typeface="Arial"/>
              </a:defRPr>
            </a:pPr>
            <a:r>
              <a:t>• Normalized Trend Slope</a:t>
            </a:r>
          </a:p>
          <a:p>
            <a:pPr>
              <a:spcAft>
                <a:spcPts val="800"/>
              </a:spcAft>
              <a:defRPr sz="1300">
                <a:solidFill>
                  <a:srgbClr val="F8FAFC"/>
                </a:solidFill>
                <a:latin typeface="Arial"/>
              </a:defRPr>
            </a:pPr>
            <a:r>
              <a:t>• Largest Single-Day Drop %</a:t>
            </a:r>
          </a:p>
          <a:p>
            <a:pPr>
              <a:spcAft>
                <a:spcPts val="800"/>
              </a:spcAft>
              <a:defRPr sz="1300">
                <a:solidFill>
                  <a:srgbClr val="F8FAFC"/>
                </a:solidFill>
                <a:latin typeface="Arial"/>
              </a:defRPr>
            </a:pPr>
            <a:r>
              <a:t>• Count of Sudden Drops</a:t>
            </a:r>
          </a:p>
        </p:txBody>
      </p:sp>
      <p:sp>
        <p:nvSpPr>
          <p:cNvPr id="6" name="Rounded Rectangle 5"/>
          <p:cNvSpPr/>
          <p:nvPr/>
        </p:nvSpPr>
        <p:spPr>
          <a:xfrm>
            <a:off x="4389120" y="1645920"/>
            <a:ext cx="32918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Bypass &amp; Periodicity</a:t>
            </a:r>
          </a:p>
          <a:p>
            <a:pPr>
              <a:spcAft>
                <a:spcPts val="800"/>
              </a:spcAft>
              <a:defRPr sz="1300">
                <a:solidFill>
                  <a:srgbClr val="F8FAFC"/>
                </a:solidFill>
                <a:latin typeface="Arial"/>
              </a:defRPr>
            </a:pPr>
            <a:r>
              <a:t>• Zero-Consumption Ratio</a:t>
            </a:r>
          </a:p>
          <a:p>
            <a:pPr>
              <a:spcAft>
                <a:spcPts val="800"/>
              </a:spcAft>
              <a:defRPr sz="1300">
                <a:solidFill>
                  <a:srgbClr val="F8FAFC"/>
                </a:solidFill>
                <a:latin typeface="Arial"/>
              </a:defRPr>
            </a:pPr>
            <a:r>
              <a:t>• Longest Zero Streak (bypass signature)</a:t>
            </a:r>
          </a:p>
          <a:p>
            <a:pPr>
              <a:spcAft>
                <a:spcPts val="800"/>
              </a:spcAft>
              <a:defRPr sz="1300">
                <a:solidFill>
                  <a:srgbClr val="F8FAFC"/>
                </a:solidFill>
                <a:latin typeface="Arial"/>
              </a:defRPr>
            </a:pPr>
            <a:r>
              <a:t>• Weekly Autocorrelation</a:t>
            </a:r>
          </a:p>
          <a:p>
            <a:pPr>
              <a:spcAft>
                <a:spcPts val="800"/>
              </a:spcAft>
              <a:defRPr sz="1300">
                <a:solidFill>
                  <a:srgbClr val="F8FAFC"/>
                </a:solidFill>
                <a:latin typeface="Arial"/>
              </a:defRPr>
            </a:pPr>
            <a:r>
              <a:t>• Weekday vs Weekend Ratio (rhythm disruption)</a:t>
            </a:r>
          </a:p>
        </p:txBody>
      </p:sp>
      <p:sp>
        <p:nvSpPr>
          <p:cNvPr id="7" name="Rounded Rectangle 6"/>
          <p:cNvSpPr/>
          <p:nvPr/>
        </p:nvSpPr>
        <p:spPr>
          <a:xfrm>
            <a:off x="8046720" y="1645920"/>
            <a:ext cx="32918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Peer Divergence</a:t>
            </a:r>
          </a:p>
          <a:p>
            <a:pPr>
              <a:spcAft>
                <a:spcPts val="800"/>
              </a:spcAft>
              <a:defRPr sz="1300">
                <a:solidFill>
                  <a:srgbClr val="F8FAFC"/>
                </a:solidFill>
                <a:latin typeface="Arial"/>
              </a:defRPr>
            </a:pPr>
            <a:r>
              <a:t>• Transformer-Group Z-Score</a:t>
            </a:r>
          </a:p>
          <a:p>
            <a:pPr>
              <a:spcAft>
                <a:spcPts val="800"/>
              </a:spcAft>
              <a:defRPr sz="1300">
                <a:solidFill>
                  <a:srgbClr val="F8FAFC"/>
                </a:solidFill>
                <a:latin typeface="Arial"/>
              </a:defRPr>
            </a:pPr>
            <a:r>
              <a:t>• Feeder Correlation Score</a:t>
            </a:r>
          </a:p>
          <a:p>
            <a:pPr>
              <a:spcAft>
                <a:spcPts val="800"/>
              </a:spcAft>
              <a:defRPr sz="1300">
                <a:solidFill>
                  <a:srgbClr val="F8FAFC"/>
                </a:solidFill>
                <a:latin typeface="Arial"/>
              </a:defRPr>
            </a:pPr>
            <a:r>
              <a:t>• Controls for weather &amp; season by comparing against immediate transformer neighbors.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Risk Scoring Formula &amp; Disambiguation Matrix</a:t>
            </a:r>
          </a:p>
        </p:txBody>
      </p:sp>
      <p:sp>
        <p:nvSpPr>
          <p:cNvPr id="5" name="Rounded Rectangle 4"/>
          <p:cNvSpPr/>
          <p:nvPr/>
        </p:nvSpPr>
        <p:spPr>
          <a:xfrm>
            <a:off x="731520" y="1645920"/>
            <a:ext cx="10698480" cy="13716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Composite Risk Score Formula</a:t>
            </a:r>
          </a:p>
          <a:p>
            <a:pPr>
              <a:spcAft>
                <a:spcPts val="800"/>
              </a:spcAft>
              <a:defRPr sz="1300">
                <a:solidFill>
                  <a:srgbClr val="F8FAFC"/>
                </a:solidFill>
                <a:latin typeface="Arial"/>
              </a:defRPr>
            </a:pPr>
            <a:r>
              <a:t>• Risk Score = 0.65 * Supervised_Prob + 0.35 * Anomaly_Score</a:t>
            </a:r>
          </a:p>
          <a:p>
            <a:pPr>
              <a:spcAft>
                <a:spcPts val="800"/>
              </a:spcAft>
              <a:defRPr sz="1300">
                <a:solidFill>
                  <a:srgbClr val="F8FAFC"/>
                </a:solidFill>
                <a:latin typeface="Arial"/>
              </a:defRPr>
            </a:pPr>
            <a:r>
              <a:t>• Supervised and Unsupervised components are reported separately to enable precise decision support.</a:t>
            </a:r>
          </a:p>
        </p:txBody>
      </p:sp>
      <p:sp>
        <p:nvSpPr>
          <p:cNvPr id="6" name="Rounded Rectangle 5"/>
          <p:cNvSpPr/>
          <p:nvPr/>
        </p:nvSpPr>
        <p:spPr>
          <a:xfrm>
            <a:off x="731520" y="3291840"/>
            <a:ext cx="5120640" cy="29260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High Supervised + High Anomaly</a:t>
            </a:r>
          </a:p>
          <a:p>
            <a:pPr>
              <a:spcAft>
                <a:spcPts val="800"/>
              </a:spcAft>
              <a:defRPr sz="1300">
                <a:solidFill>
                  <a:srgbClr val="F8FAFC"/>
                </a:solidFill>
                <a:latin typeface="Arial"/>
              </a:defRPr>
            </a:pPr>
            <a:r>
              <a:t>• CLASSIFICATION: High-Confidence Theft Flag</a:t>
            </a:r>
          </a:p>
          <a:p>
            <a:pPr>
              <a:spcAft>
                <a:spcPts val="800"/>
              </a:spcAft>
              <a:defRPr sz="1300">
                <a:solidFill>
                  <a:srgbClr val="F8FAFC"/>
                </a:solidFill>
                <a:latin typeface="Arial"/>
              </a:defRPr>
            </a:pPr>
            <a:r>
              <a:t>• ACTION: Immediate dispatch for physical inspection.</a:t>
            </a:r>
          </a:p>
          <a:p>
            <a:pPr>
              <a:spcAft>
                <a:spcPts val="800"/>
              </a:spcAft>
              <a:defRPr sz="1300">
                <a:solidFill>
                  <a:srgbClr val="F8FAFC"/>
                </a:solidFill>
                <a:latin typeface="Arial"/>
              </a:defRPr>
            </a:pPr>
            <a:r>
              <a:t>• SIGNATURE: Known tampering pattern with strong statistical outlier metrics.</a:t>
            </a:r>
          </a:p>
        </p:txBody>
      </p:sp>
      <p:sp>
        <p:nvSpPr>
          <p:cNvPr id="7" name="Rounded Rectangle 6"/>
          <p:cNvSpPr/>
          <p:nvPr/>
        </p:nvSpPr>
        <p:spPr>
          <a:xfrm>
            <a:off x="6309360" y="3291840"/>
            <a:ext cx="5120640" cy="29260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Low Supervised + High Anomaly</a:t>
            </a:r>
          </a:p>
          <a:p>
            <a:pPr>
              <a:spcAft>
                <a:spcPts val="800"/>
              </a:spcAft>
              <a:defRPr sz="1300">
                <a:solidFill>
                  <a:srgbClr val="F8FAFC"/>
                </a:solidFill>
                <a:latin typeface="Arial"/>
              </a:defRPr>
            </a:pPr>
            <a:r>
              <a:t>• CLASSIFICATION: Novel / Zero-Day Pattern</a:t>
            </a:r>
          </a:p>
          <a:p>
            <a:pPr>
              <a:spcAft>
                <a:spcPts val="800"/>
              </a:spcAft>
              <a:defRPr sz="1300">
                <a:solidFill>
                  <a:srgbClr val="F8FAFC"/>
                </a:solidFill>
                <a:latin typeface="Arial"/>
              </a:defRPr>
            </a:pPr>
            <a:r>
              <a:t>• ACTION: Flagged for Human Utility Review (Not automatic theft).</a:t>
            </a:r>
          </a:p>
          <a:p>
            <a:pPr>
              <a:spcAft>
                <a:spcPts val="800"/>
              </a:spcAft>
              <a:defRPr sz="1300">
                <a:solidFill>
                  <a:srgbClr val="F8FAFC"/>
                </a:solidFill>
                <a:latin typeface="Arial"/>
              </a:defRPr>
            </a:pPr>
            <a:r>
              <a:t>• SIGNATURE: Unusual usage (vacant home or new tampering method).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Explainability: Backend Calculation vs. Frontend UI</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3B82F6"/>
                </a:solidFill>
                <a:latin typeface="Arial"/>
              </a:defRPr>
            </a:pPr>
            <a:r>
              <a:t>⚙️ Backend SHAP Computations</a:t>
            </a:r>
          </a:p>
          <a:p>
            <a:pPr>
              <a:spcAft>
                <a:spcPts val="800"/>
              </a:spcAft>
              <a:defRPr sz="1300">
                <a:solidFill>
                  <a:srgbClr val="F8FAFC"/>
                </a:solidFill>
                <a:latin typeface="Arial"/>
              </a:defRPr>
            </a:pPr>
            <a:r>
              <a:t>• TreeExplainer Pipeline: Computes game-theoretic Shapley values per feature for every prediction.</a:t>
            </a:r>
          </a:p>
          <a:p>
            <a:pPr>
              <a:spcAft>
                <a:spcPts val="800"/>
              </a:spcAft>
              <a:defRPr sz="1300">
                <a:solidFill>
                  <a:srgbClr val="F8FAFC"/>
                </a:solidFill>
                <a:latin typeface="Arial"/>
              </a:defRPr>
            </a:pPr>
            <a:r>
              <a:t>• Attribution Ranking: Ranks features by absolute contribution to the risk score.</a:t>
            </a:r>
          </a:p>
          <a:p>
            <a:pPr>
              <a:spcAft>
                <a:spcPts val="800"/>
              </a:spcAft>
              <a:defRPr sz="1300">
                <a:solidFill>
                  <a:srgbClr val="F8FAFC"/>
                </a:solidFill>
                <a:latin typeface="Arial"/>
              </a:defRPr>
            </a:pPr>
            <a:r>
              <a:t>• Rule-Based Natural Language Translation: Maps raw SHAP values into clean operator reasons (e.g. 'Long zero streak detected').</a:t>
            </a:r>
          </a:p>
          <a:p>
            <a:pPr>
              <a:spcAft>
                <a:spcPts val="800"/>
              </a:spcAft>
              <a:defRPr sz="1300">
                <a:solidFill>
                  <a:srgbClr val="F8FAFC"/>
                </a:solidFill>
                <a:latin typeface="Arial"/>
              </a:defRPr>
            </a:pPr>
            <a:r>
              <a:t>• JSON Response Payload: Formats reasons array into clean REST API response.</a:t>
            </a:r>
          </a:p>
        </p:txBody>
      </p:sp>
      <p:sp>
        <p:nvSpPr>
          <p:cNvPr id="6" name="Rounded Rectangle 5"/>
          <p:cNvSpPr/>
          <p:nvPr/>
        </p:nvSpPr>
        <p:spPr>
          <a:xfrm>
            <a:off x="630936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10B981"/>
                </a:solidFill>
                <a:latin typeface="Arial"/>
              </a:defRPr>
            </a:pPr>
            <a:r>
              <a:t>🖥️ Frontend Operator Experience</a:t>
            </a:r>
          </a:p>
          <a:p>
            <a:pPr>
              <a:spcAft>
                <a:spcPts val="800"/>
              </a:spcAft>
              <a:defRPr sz="1300">
                <a:solidFill>
                  <a:srgbClr val="F8FAFC"/>
                </a:solidFill>
                <a:latin typeface="Arial"/>
              </a:defRPr>
            </a:pPr>
            <a:r>
              <a:t>• Automated Audit Reasons Selector: Interactive dropdown allowing instant selection of flagged accounts.</a:t>
            </a:r>
          </a:p>
          <a:p>
            <a:pPr>
              <a:spcAft>
                <a:spcPts val="800"/>
              </a:spcAft>
              <a:defRPr sz="1300">
                <a:solidFill>
                  <a:srgbClr val="F8FAFC"/>
                </a:solidFill>
                <a:latin typeface="Arial"/>
              </a:defRPr>
            </a:pPr>
            <a:r>
              <a:t>• Visual Reason Alerts: Renders red alert callouts (🛑) highlighting exact failure modes.</a:t>
            </a:r>
          </a:p>
          <a:p>
            <a:pPr>
              <a:spcAft>
                <a:spcPts val="800"/>
              </a:spcAft>
              <a:defRPr sz="1300">
                <a:solidFill>
                  <a:srgbClr val="F8FAFC"/>
                </a:solidFill>
                <a:latin typeface="Arial"/>
              </a:defRPr>
            </a:pPr>
            <a:r>
              <a:t>• Transformer Zone Context: Displays transformer ID and percentage calculated risk.</a:t>
            </a:r>
          </a:p>
          <a:p>
            <a:pPr>
              <a:spcAft>
                <a:spcPts val="800"/>
              </a:spcAft>
              <a:defRPr sz="1300">
                <a:solidFill>
                  <a:srgbClr val="F8FAFC"/>
                </a:solidFill>
                <a:latin typeface="Arial"/>
              </a:defRPr>
            </a:pPr>
            <a:r>
              <a:t>• Grid Plotly Distribution: Renders suspect counts per transformer zone in a visual heatmap bar chart.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Datasets: Synthetic Quickstart &amp; Real Benchmarks</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Synthetic Data Generator</a:t>
            </a:r>
          </a:p>
          <a:p>
            <a:pPr>
              <a:spcAft>
                <a:spcPts val="800"/>
              </a:spcAft>
              <a:defRPr sz="1300">
                <a:solidFill>
                  <a:srgbClr val="F8FAFC"/>
                </a:solidFill>
                <a:latin typeface="Arial"/>
              </a:defRPr>
            </a:pPr>
            <a:r>
              <a:t>• Built-in generator for instant zero-dependency setup.</a:t>
            </a:r>
          </a:p>
          <a:p>
            <a:pPr>
              <a:spcAft>
                <a:spcPts val="800"/>
              </a:spcAft>
              <a:defRPr sz="1300">
                <a:solidFill>
                  <a:srgbClr val="F8FAFC"/>
                </a:solidFill>
                <a:latin typeface="Arial"/>
              </a:defRPr>
            </a:pPr>
            <a:r>
              <a:t>• Simulates normal load profiles, drop-offs, and bypasses.</a:t>
            </a:r>
          </a:p>
          <a:p>
            <a:pPr>
              <a:spcAft>
                <a:spcPts val="800"/>
              </a:spcAft>
              <a:defRPr sz="1300">
                <a:solidFill>
                  <a:srgbClr val="F8FAFC"/>
                </a:solidFill>
                <a:latin typeface="Arial"/>
              </a:defRPr>
            </a:pPr>
            <a:r>
              <a:t>• Used for automated CI/CD unit testing &amp; quick demo verification.</a:t>
            </a:r>
          </a:p>
          <a:p>
            <a:pPr>
              <a:spcAft>
                <a:spcPts val="800"/>
              </a:spcAft>
              <a:defRPr sz="1300">
                <a:solidFill>
                  <a:srgbClr val="F8FAFC"/>
                </a:solidFill>
                <a:latin typeface="Arial"/>
              </a:defRPr>
            </a:pPr>
            <a:r>
              <a:t>• Reaches high ROC-AUC on clean benchmark scenarios.</a:t>
            </a:r>
          </a:p>
        </p:txBody>
      </p:sp>
      <p:sp>
        <p:nvSpPr>
          <p:cNvPr id="6" name="Rounded Rectangle 5"/>
          <p:cNvSpPr/>
          <p:nvPr/>
        </p:nvSpPr>
        <p:spPr>
          <a:xfrm>
            <a:off x="630936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Real-World Public Benchmarks</a:t>
            </a:r>
          </a:p>
          <a:p>
            <a:pPr>
              <a:spcAft>
                <a:spcPts val="800"/>
              </a:spcAft>
              <a:defRPr sz="1300">
                <a:solidFill>
                  <a:srgbClr val="F8FAFC"/>
                </a:solidFill>
                <a:latin typeface="Arial"/>
              </a:defRPr>
            </a:pPr>
            <a:r>
              <a:t>• SGCC Benchmark (State Grid Corp of China):</a:t>
            </a:r>
          </a:p>
          <a:p>
            <a:pPr>
              <a:spcAft>
                <a:spcPts val="800"/>
              </a:spcAft>
              <a:defRPr sz="1300">
                <a:solidFill>
                  <a:srgbClr val="F8FAFC"/>
                </a:solidFill>
                <a:latin typeface="Arial"/>
              </a:defRPr>
            </a:pPr>
            <a:r>
              <a:t>•   • 42,372 consumers, 3,615 confirmed theft cases (IEEE TII standard).</a:t>
            </a:r>
          </a:p>
          <a:p>
            <a:pPr>
              <a:spcAft>
                <a:spcPts val="800"/>
              </a:spcAft>
              <a:defRPr sz="1300">
                <a:solidFill>
                  <a:srgbClr val="F8FAFC"/>
                </a:solidFill>
                <a:latin typeface="Arial"/>
              </a:defRPr>
            </a:pPr>
            <a:r>
              <a:t>•   • Plug-and-play format via simple melt transformation.</a:t>
            </a:r>
          </a:p>
          <a:p>
            <a:pPr>
              <a:spcAft>
                <a:spcPts val="800"/>
              </a:spcAft>
              <a:defRPr sz="1300">
                <a:solidFill>
                  <a:srgbClr val="F8FAFC"/>
                </a:solidFill>
                <a:latin typeface="Arial"/>
              </a:defRPr>
            </a:pPr>
            <a:r>
              <a:t>• PRECON &amp; Irish CER Datasets:</a:t>
            </a:r>
          </a:p>
          <a:p>
            <a:pPr>
              <a:spcAft>
                <a:spcPts val="800"/>
              </a:spcAft>
              <a:defRPr sz="1300">
                <a:solidFill>
                  <a:srgbClr val="F8FAFC"/>
                </a:solidFill>
                <a:latin typeface="Arial"/>
              </a:defRPr>
            </a:pPr>
            <a:r>
              <a:t>•   • High-frequency smart meter data for 30-minute interval analysis.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Honest Caveats &amp; Q&amp;A Readiness</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Technical &amp; Data Realities</a:t>
            </a:r>
          </a:p>
          <a:p>
            <a:pPr>
              <a:spcAft>
                <a:spcPts val="800"/>
              </a:spcAft>
              <a:defRPr sz="1300">
                <a:solidFill>
                  <a:srgbClr val="F8FAFC"/>
                </a:solidFill>
                <a:latin typeface="Arial"/>
              </a:defRPr>
            </a:pPr>
            <a:r>
              <a:t>• Synthetic vs. Real Noise: Synthetic data is cleanly separable (~1.0 AUC); real-world grid data is significantly messier.</a:t>
            </a:r>
          </a:p>
          <a:p>
            <a:pPr>
              <a:spcAft>
                <a:spcPts val="800"/>
              </a:spcAft>
              <a:defRPr sz="1300">
                <a:solidFill>
                  <a:srgbClr val="F8FAFC"/>
                </a:solidFill>
                <a:latin typeface="Arial"/>
              </a:defRPr>
            </a:pPr>
            <a:r>
              <a:t>• Topology Reliance: Peer comparisons rely on accurate transformer mapping. Bad feeder data affects z-scores.</a:t>
            </a:r>
          </a:p>
          <a:p>
            <a:pPr>
              <a:spcAft>
                <a:spcPts val="800"/>
              </a:spcAft>
              <a:defRPr sz="1300">
                <a:solidFill>
                  <a:srgbClr val="F8FAFC"/>
                </a:solidFill>
                <a:latin typeface="Arial"/>
              </a:defRPr>
            </a:pPr>
            <a:r>
              <a:t>• Vacant Property Outliers: Anomaly detection flags vacant/relocated homes—hence the need for human review.</a:t>
            </a:r>
          </a:p>
        </p:txBody>
      </p:sp>
      <p:sp>
        <p:nvSpPr>
          <p:cNvPr id="6" name="Rounded Rectangle 5"/>
          <p:cNvSpPr/>
          <p:nvPr/>
        </p:nvSpPr>
        <p:spPr>
          <a:xfrm>
            <a:off x="630936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Deployment &amp; Policy Guidelines</a:t>
            </a:r>
          </a:p>
          <a:p>
            <a:pPr>
              <a:spcAft>
                <a:spcPts val="800"/>
              </a:spcAft>
              <a:defRPr sz="1300">
                <a:solidFill>
                  <a:srgbClr val="F8FAFC"/>
                </a:solidFill>
                <a:latin typeface="Arial"/>
              </a:defRPr>
            </a:pPr>
            <a:r>
              <a:t>• Decision Support Tool: The system assists human inspectors; it is NOT an automated legal/billing penalty engine.</a:t>
            </a:r>
          </a:p>
          <a:p>
            <a:pPr>
              <a:spcAft>
                <a:spcPts val="800"/>
              </a:spcAft>
              <a:defRPr sz="1300">
                <a:solidFill>
                  <a:srgbClr val="F8FAFC"/>
                </a:solidFill>
                <a:latin typeface="Arial"/>
              </a:defRPr>
            </a:pPr>
            <a:r>
              <a:t>• Feedback Loop: Field inspection results feed back into retraining the supervised XGBoost model.</a:t>
            </a:r>
          </a:p>
          <a:p>
            <a:pPr>
              <a:spcAft>
                <a:spcPts val="800"/>
              </a:spcAft>
              <a:defRPr sz="1300">
                <a:solidFill>
                  <a:srgbClr val="F8FAFC"/>
                </a:solidFill>
                <a:latin typeface="Arial"/>
              </a:defRPr>
            </a:pPr>
            <a:r>
              <a:t>• Privacy &amp; Governance: Operates on anonymized consumption series.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Summary of Technical Contributions</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3B82F6"/>
                </a:solidFill>
                <a:latin typeface="Arial"/>
              </a:defRPr>
            </a:pPr>
            <a:r>
              <a:t>⚙️ Backend Core Accomplishments</a:t>
            </a:r>
          </a:p>
          <a:p>
            <a:pPr>
              <a:spcAft>
                <a:spcPts val="800"/>
              </a:spcAft>
              <a:defRPr sz="1300">
                <a:solidFill>
                  <a:srgbClr val="F8FAFC"/>
                </a:solidFill>
                <a:latin typeface="Arial"/>
              </a:defRPr>
            </a:pPr>
            <a:r>
              <a:t>• FastAPI REST API: Scalable microservice with POST /scan &amp; POST /score endpoints.</a:t>
            </a:r>
          </a:p>
          <a:p>
            <a:pPr>
              <a:spcAft>
                <a:spcPts val="800"/>
              </a:spcAft>
              <a:defRPr sz="1300">
                <a:solidFill>
                  <a:srgbClr val="F8FAFC"/>
                </a:solidFill>
                <a:latin typeface="Arial"/>
              </a:defRPr>
            </a:pPr>
            <a:r>
              <a:t>• Dual ML Pipeline: Class-weighted XGBoost + Isolation Forest anomaly detection.</a:t>
            </a:r>
          </a:p>
          <a:p>
            <a:pPr>
              <a:spcAft>
                <a:spcPts val="800"/>
              </a:spcAft>
              <a:defRPr sz="1300">
                <a:solidFill>
                  <a:srgbClr val="F8FAFC"/>
                </a:solidFill>
                <a:latin typeface="Arial"/>
              </a:defRPr>
            </a:pPr>
            <a:r>
              <a:t>• 15-Feature Extractor: Automated time-series dynamics, bypass streaks &amp; peer z-scores.</a:t>
            </a:r>
          </a:p>
          <a:p>
            <a:pPr>
              <a:spcAft>
                <a:spcPts val="800"/>
              </a:spcAft>
              <a:defRPr sz="1300">
                <a:solidFill>
                  <a:srgbClr val="F8FAFC"/>
                </a:solidFill>
                <a:latin typeface="Arial"/>
              </a:defRPr>
            </a:pPr>
            <a:r>
              <a:t>• SHAP XAI Engine: TreeExplainer integration producing per-account risk explanations.</a:t>
            </a:r>
          </a:p>
        </p:txBody>
      </p:sp>
      <p:sp>
        <p:nvSpPr>
          <p:cNvPr id="6" name="Rounded Rectangle 5"/>
          <p:cNvSpPr/>
          <p:nvPr/>
        </p:nvSpPr>
        <p:spPr>
          <a:xfrm>
            <a:off x="630936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10B981"/>
                </a:solidFill>
                <a:latin typeface="Arial"/>
              </a:defRPr>
            </a:pPr>
            <a:r>
              <a:t>🖥️ Frontend UX Accomplishments</a:t>
            </a:r>
          </a:p>
          <a:p>
            <a:pPr>
              <a:spcAft>
                <a:spcPts val="800"/>
              </a:spcAft>
              <a:defRPr sz="1300">
                <a:solidFill>
                  <a:srgbClr val="F8FAFC"/>
                </a:solidFill>
                <a:latin typeface="Arial"/>
              </a:defRPr>
            </a:pPr>
            <a:r>
              <a:t>• Streamlit Dashboard: Low-latency operator decision dashboard.</a:t>
            </a:r>
          </a:p>
          <a:p>
            <a:pPr>
              <a:spcAft>
                <a:spcPts val="800"/>
              </a:spcAft>
              <a:defRPr sz="1300">
                <a:solidFill>
                  <a:srgbClr val="F8FAFC"/>
                </a:solidFill>
                <a:latin typeface="Arial"/>
              </a:defRPr>
            </a:pPr>
            <a:r>
              <a:t>• Real-Time Parameterization: Interactive suspect sliders and dynamic scan triggers.</a:t>
            </a:r>
          </a:p>
          <a:p>
            <a:pPr>
              <a:spcAft>
                <a:spcPts val="800"/>
              </a:spcAft>
              <a:defRPr sz="1300">
                <a:solidFill>
                  <a:srgbClr val="F8FAFC"/>
                </a:solidFill>
                <a:latin typeface="Arial"/>
              </a:defRPr>
            </a:pPr>
            <a:r>
              <a:t>• Transformer Heatmap: Plotly visual aggregation of suspect clusters by transformer feeder.</a:t>
            </a:r>
          </a:p>
          <a:p>
            <a:pPr>
              <a:spcAft>
                <a:spcPts val="800"/>
              </a:spcAft>
              <a:defRPr sz="1300">
                <a:solidFill>
                  <a:srgbClr val="F8FAFC"/>
                </a:solidFill>
                <a:latin typeface="Arial"/>
              </a:defRPr>
            </a:pPr>
            <a:r>
              <a:t>• Audit Inspector: Transparent audit reason renderer restoring inspector trust.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