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9" autoAdjust="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99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Submission Documentation: Welcome to the final submission deck for the Electricity Theft Detection System. This presentation is structured so that any reviewer—technical </a:t>
            </a:r>
            <a:r>
              <a:rPr dirty="0" err="1"/>
              <a:t>ornon</a:t>
            </a:r>
            <a:r>
              <a:rPr dirty="0"/>
              <a:t>-technical—can easily understand the real-world problem, the machine learning innovations, and the exact backend &amp; frontend software implementations.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2 Context: Electricity theft is a huge global issue where power is consumed illegally without billing. It leads to massive financial losses ($96B+/year) and grid instability. Because power companies monitor millions of meters daily, manual physical inspections are too slow and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Context: Conventional machine learning tutorials simply train one classifier on past theft labels. This fails in practice because: (1) past labels inherit human inspector bias, (2) raw scores lack explainable proof, and (3) simple models mistake seasonal cold weather drops for meter tampering.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Context: Our solution combines four intelligent signals: (1) Supervised XGBoost for known theft, (2) Unsupervised Isolation Forest for unseen zero-day anomalies, (3) SHAP explainability for plain-English proof, and (4) Peer divergence to filter out weather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Backend Focus: This slide is 100% dedicated to the Backend. The backend is built in Python using FastAPI. It consists of modular Python scripts for feature engineering, dual-signal ensemble scoring, SHAP reason generation, and high-performance REST API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Frontend Focus: This slide is 100% dedicated to the Frontend. The frontend is built using Streamlit and Plotly. It provides a clean, responsive operator dashboard where utility managers can trigger live grid threat scans, visualize suspect clusters by transformer, and inspect automated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Feature Focus: We extract 15 domain features from raw daily meter readings. These include distribution stats, meter bypass streaks, weekly autocorrelation drops, and crucial transformer peer divergence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Scoring Matrix: We blend supervised probability (65%) and anomaly score (35%). Reporting both components separately prevents false accusations—an account with high anomaly but low supervised probability is flagged as 'needs human review' rather than a definitive theft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Datasets: The system includes a synthetic generator for zero-dependency testing, and natively supports real-world industry benchmarks like the 42,000-consumer SGCC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Caveats: Transparency is vital. Real grid data is messier than synthetic generators, peer comparison requires correct feeder topology, and our tool is designed for human decision support, not automatic billing fines.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Roadmap: Outlines future scalability path including LightGBM/CatBoost swaps, deep learning waveform autoencoders, SQLite risk trajectory persistence, and mobile GIS field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Final Summary: In summary, our project delivers an end-to-end, production-ready Electricity Theft Detection system. It combines dual-signal ML innovation, SHAP explainability, a robust FastAPI backend, and an intuitive Streamlit frontend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06B6D4"/>
                </a:solidFill>
              </a:defRPr>
            </a:pPr>
            <a:r>
              <a:rPr dirty="0"/>
              <a:t> ELECTRICITY THEFT &amp; ANOMALY DETECTION SYSTEM</a:t>
            </a:r>
          </a:p>
          <a:p>
            <a:pPr>
              <a:spcAft>
                <a:spcPts val="2000"/>
              </a:spcAft>
              <a:defRPr sz="2000" b="1">
                <a:solidFill>
                  <a:srgbClr val="F8FAFC"/>
                </a:solidFill>
              </a:defRPr>
            </a:pPr>
            <a:r>
              <a:rPr dirty="0"/>
              <a:t>An End-to-End Decision Support System Powered by Dual-Signal ML &amp; Explainable AI</a:t>
            </a:r>
          </a:p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rPr dirty="0"/>
              <a:t>Final Project Submission Deck | Beginner-Friendly Guide &amp; Full-Stack Documentation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Includes Core Problem Explanation, Dual-Signal ML Engine, Dedicated Backend Architecture, Dedicated Frontend UI, Datasets, and Real-World Guidelines.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 Understanding Electricity Theft: What &amp; Why?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rPr sz="1500" dirty="0"/>
              <a:t>What is Electricity Theft?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Non-Technical Losses (NTL): Power consumed but never billed.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Physical Meter Tampering: Slowing down mechanical/digital meters.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Meter Bypass: Connecting lines directly to bypass the meter entirely.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Cyber Alteration: Hacking smart meter communication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rPr sz="1400" dirty="0"/>
              <a:t>Why is it a Massive Problem?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Economic Loss: $96B+ lost globally every year by utility companies.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Grid Unreliability: Causes unexpected transformer overloads and power outages.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Higher Bills: Paying honest consumers subsidize stolen electricity.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Safety Risk: Illegal wiring creates severe electrical fire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rPr sz="1500" dirty="0"/>
              <a:t>Why is it Hard to Catch?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Data Scale: Millions of households streaming daily electricity readings.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Physical Inspections: Checking every meter manually is physically impossible.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Evolving Tricks: Thieves constantly change their tampering methods.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Need for High Precision: False allegations damage utility customer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 Why Traditional Detection Methods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sz="1500" dirty="0"/>
              <a:t>1. Historical Label Bias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Standard models train ONLY on past confirmed theft cases.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Historical theft labels are sparse and incomplete.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Models learn ONLY what inspectors caught in the past.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Completely blind to novel ('zero-day') tampering tricks.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927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sz="1500" dirty="0"/>
              <a:t>2. Black-Box Score Trap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Standard ML outputs a single raw score (e.g. '89% suspicious').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Provides ZERO explanation of why the score is high.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Inspectors hesitate to visit sites without evidence.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Wastes field budget on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sz="1500" dirty="0"/>
              <a:t>3. Weather &amp; Seasonal</a:t>
            </a:r>
            <a:r>
              <a:rPr lang="en-US" sz="1500" dirty="0"/>
              <a:t>  </a:t>
            </a:r>
            <a:r>
              <a:rPr sz="1500" dirty="0"/>
              <a:t>Confusion</a:t>
            </a:r>
            <a:r>
              <a:rPr lang="en-US" sz="1500" dirty="0"/>
              <a:t> </a:t>
            </a:r>
            <a:endParaRPr sz="1500" dirty="0"/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A sudden drop in usage might be cold weather, not theft.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If an entire neighborhood drops consumption, it's seasonal.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Single-meter models fail to compare against neighbors.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400" dirty="0"/>
              <a:t>• Triggers frequent false accusations during mild weather.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Our Solution: Dual-Signal ML + SHAP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3B82F6"/>
                </a:solidFill>
                <a:latin typeface="Arial"/>
              </a:defRPr>
            </a:pPr>
            <a:r>
              <a:rPr dirty="0"/>
              <a:t>Signal 1: Supervised </a:t>
            </a:r>
            <a:r>
              <a:rPr dirty="0" err="1"/>
              <a:t>XGBoost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Catches KNOWN historical theft patterns.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Uses class-weighted gradient boosting to handle sparse theft cases.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Calculates precise supervised probability </a:t>
            </a:r>
            <a:r>
              <a:rPr lang="en-IN" sz="1200" b="1" dirty="0"/>
              <a:t>(</a:t>
            </a:r>
            <a:r>
              <a:rPr lang="en-IN" sz="1200" b="1" dirty="0" err="1"/>
              <a:t>P_supervised</a:t>
            </a:r>
            <a:r>
              <a:rPr lang="en-IN" sz="1200" b="1" dirty="0"/>
              <a:t>).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Arial"/>
              </a:defRPr>
            </a:pPr>
            <a:r>
              <a:rPr dirty="0"/>
              <a:t>Signal 2: Unsupervised Isolation Forest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Catches NOVEL / ZERO-DAY tampering anomalies.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Requires NO historical theft labels to detect strange usage.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Calculates statistical outlier score </a:t>
            </a:r>
            <a:r>
              <a:rPr lang="en-IN" sz="1200" b="1" dirty="0"/>
              <a:t>(</a:t>
            </a:r>
            <a:r>
              <a:rPr lang="en-IN" sz="1200" b="1" dirty="0" err="1"/>
              <a:t>Score_anomaly</a:t>
            </a:r>
            <a:r>
              <a:rPr lang="en-IN" sz="1200" b="1" dirty="0"/>
              <a:t>)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t>Signal 3: SHAP Explainability Engine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Computes game-theoretic feature attributions.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Translates mathematical weights into plain-English reasons.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Tells inspectors EXACTLY why an account was flagged.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02336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t>Signal 4: Neighborhood Peer Divergence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Compares consumer usage against neighbors on the same transformer.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Filters out weather/seasonal drops affecting the whole feeder.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Pinpoints true divergence vs. normal neighborhood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 Deep Dive: Backend Architecture &amp;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3B82F6"/>
                </a:solidFill>
                <a:latin typeface="Arial"/>
              </a:defRPr>
            </a:pPr>
            <a:r>
              <a:rPr sz="1500" dirty="0"/>
              <a:t>Backend Core Modules (</a:t>
            </a:r>
            <a:r>
              <a:rPr sz="1500" dirty="0" err="1"/>
              <a:t>src</a:t>
            </a:r>
            <a:r>
              <a:rPr sz="1500" dirty="0"/>
              <a:t>/)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1. Feature Engine (</a:t>
            </a:r>
            <a:r>
              <a:rPr sz="1500" dirty="0" err="1"/>
              <a:t>src</a:t>
            </a:r>
            <a:r>
              <a:rPr sz="1500" dirty="0"/>
              <a:t>/features.py): Computes 15 domain features per consumer series (distribution, zero streaks, z-scores).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2. ML Ensemble (</a:t>
            </a:r>
            <a:r>
              <a:rPr sz="1500" dirty="0" err="1"/>
              <a:t>src</a:t>
            </a:r>
            <a:r>
              <a:rPr sz="1500" dirty="0"/>
              <a:t>/models.py): Implements </a:t>
            </a:r>
            <a:r>
              <a:rPr sz="1500" dirty="0" err="1"/>
              <a:t>TheftDetectionEnsemble</a:t>
            </a:r>
            <a:r>
              <a:rPr sz="1500" dirty="0"/>
              <a:t> combining </a:t>
            </a:r>
            <a:r>
              <a:rPr sz="1500" dirty="0" err="1"/>
              <a:t>XGBoost</a:t>
            </a:r>
            <a:r>
              <a:rPr sz="1500" dirty="0"/>
              <a:t> + Isolation Forest.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3. SHAP Engine (</a:t>
            </a:r>
            <a:r>
              <a:rPr sz="1500" dirty="0" err="1"/>
              <a:t>src</a:t>
            </a:r>
            <a:r>
              <a:rPr sz="1500" dirty="0"/>
              <a:t>/explain.py): SHAP </a:t>
            </a:r>
            <a:r>
              <a:rPr sz="1500" dirty="0" err="1"/>
              <a:t>TreeExplainer</a:t>
            </a:r>
            <a:r>
              <a:rPr sz="1500" dirty="0"/>
              <a:t> generating positive &amp; negative feature attributions.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4. Data Pipeline (src/train.py &amp; generate_data.py): Automated synthetic generator &amp; model trainer.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sz="1500" dirty="0" err="1"/>
              <a:t>FastAPI</a:t>
            </a:r>
            <a:r>
              <a:rPr sz="1500" dirty="0"/>
              <a:t> REST Endpoints (</a:t>
            </a:r>
            <a:r>
              <a:rPr sz="1500" dirty="0" err="1"/>
              <a:t>src</a:t>
            </a:r>
            <a:r>
              <a:rPr sz="1500" dirty="0"/>
              <a:t>/api.py)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• POST /scan : Batch population scanner. Ranks all grid consumers by risk score and returns top N suspects.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• POST /score : Ad-hoc single consumer scorer. Takes raw daily kWh array and computes real-time risk &amp; reasons.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• High Performance: Asynchronous execution, strict </a:t>
            </a:r>
            <a:r>
              <a:rPr sz="1500" dirty="0" err="1"/>
              <a:t>Pydantic</a:t>
            </a:r>
            <a:r>
              <a:rPr sz="1500" dirty="0"/>
              <a:t> validation schemas (`schemas.py`), production ready.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 Deep Dive: Frontend UX &amp; Operator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Arial"/>
              </a:defRPr>
            </a:pP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Web Application (dashboard.py)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1. Real-Time API Integration: Connects via HTTP to </a:t>
            </a:r>
            <a:r>
              <a:rPr dirty="0" err="1"/>
              <a:t>FastAPI</a:t>
            </a:r>
            <a:r>
              <a:rPr dirty="0"/>
              <a:t> backend (`THEFT_API_URL`).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2. Sidebar Scan Control: Interactive slider (top 5 to 100 suspects) &amp; primary trigger button.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3. Top Executive KPI Cards: Displays Monitored Consumers, Flagged High-Risk Cases &amp; Active Risk Threshold.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4. Ranked Suspect Table: Interactive grid showing Consumer ID, Transformer Zone, Overall Risk %, ML Prob % &amp; Anomaly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rPr dirty="0"/>
              <a:t> Visual Analytics &amp; Audit Inspector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1. Transformer Cluster Chart: </a:t>
            </a:r>
            <a:r>
              <a:rPr dirty="0" err="1"/>
              <a:t>Plotly</a:t>
            </a:r>
            <a:r>
              <a:rPr dirty="0"/>
              <a:t> bar chart displaying suspect counts grouped by transformer zone.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2. Automated Audit Log Inspector: Consumer dropdown allowing instant deep-dive into flagged accounts.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3. Plain-English Reason Render: Renders red alert callouts  detailing exact failure modes.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4. Inspector Decision Support: Gives field teams visual proof before dispatching on-site audits.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Feature Engineering &amp; Domain Intelligence (15 Features)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9239" y="2011680"/>
            <a:ext cx="2823444" cy="395058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sz="1700" dirty="0"/>
              <a:t>Consumption Dynamics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Mean, Std, Skewness, Kurtosis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Coefficient of Variation (CV)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Normalized Trend Slope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Largest Single-Day Drop %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Count of Sudden Drops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4278" y="2011680"/>
            <a:ext cx="2823443" cy="395058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lang="en-IN" sz="1700" dirty="0"/>
              <a:t>Bypass &amp; Periodicity</a:t>
            </a:r>
            <a:endParaRPr sz="1700" dirty="0"/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Zero-Consumption Ratio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Longest Zero Streak (meter bypass signature)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Weekly Autocorrelation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Weekday vs Weekend Ratio (rhythm disruption)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9316" y="2011680"/>
            <a:ext cx="2758129" cy="381062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dirty="0"/>
              <a:t>Peer Divergence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Transformer-Group Z-Score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Feeder Correlation Score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Controls for weather &amp; season by comparing against immediate transformer neighbors.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 Risk Scoring Formula &amp; Disambiguation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t>Composite Risk Score Formula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Risk Score = 0.65 * Supervised_Prob + 0.35 * Anomaly_Score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Supervised and Unsupervised components are reported separately to enable precise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dirty="0"/>
              <a:t>High Supervised + High Anomaly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CLASSIFICATION: High-Confidence Known Theft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ACTION: High-priority dispatch for physical site audit.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SIGNATURE: Known tampering pattern with strong statistical outlier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291840"/>
            <a:ext cx="512064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dirty="0"/>
              <a:t>Low Supervised + High Anomaly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CLASSIFICATION: Zero-Day Anomaly / Novel Pattern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ACTION: Flagged for Human Utility Review (Not automatic theft).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sz="1500" dirty="0"/>
              <a:t>• SIGNATURE: Unusual usage (vacant home or new tampering method).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Datasets: Synthetic </a:t>
            </a:r>
            <a:r>
              <a:rPr dirty="0" err="1"/>
              <a:t>Quickstart</a:t>
            </a:r>
            <a:r>
              <a:rPr dirty="0"/>
              <a:t> &amp; Real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8132" y="1903445"/>
            <a:ext cx="4484292" cy="399723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dirty="0"/>
              <a:t>Synthetic Data Generator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Built-in generator for instant zero-dependency setup.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Simulates normal load profiles, drop-offs, and bypasses.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Used for automated CI/CD unit testing &amp; quick demo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Reaches high ROC-AUC on clean benchmark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21327" y="1802674"/>
            <a:ext cx="4710093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t>Real-World Public Benchmarks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SGCC Benchmark (State Grid Corp of China):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• 42,372 consumers, 3,615 confirmed theft cases (IEEE TII standard).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• Plug-and-play format via simple melt transformation.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PRECON &amp; Irish CER Datasets: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  • High-frequency smart meter data for 30-minute interval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Honest Real-World Caveats &amp; Operational Guidelines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3446" y="2174032"/>
            <a:ext cx="4484292" cy="37639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t>Technical &amp; Data Realities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Synthetic vs. Real Noise: Synthetic data is cleanly separable (~1.0 AUC); real-world grid data is significantly messier.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Topology Reliance: Peer comparisons rely on accurate transformer mapping. Bad feeder data affects z-scores.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Vacant Property Outliers: Anomaly detection flags vacant/relocated homes—hence the need for human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74032"/>
            <a:ext cx="4672771" cy="38759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t>Operational &amp; Policy Guidelines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Decision Support Tool: The system assists human inspectors; it is NOT an automated legal/billing penalty engine.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Feedback Loop: Field inspection results feed back into retraining the supervised XGBoost model.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Privacy &amp; Governance: Operates on anonymized consumption series.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Future Roadmap &amp; Technical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5212" y="2146974"/>
            <a:ext cx="4717558" cy="376396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3B82F6"/>
                </a:solidFill>
                <a:latin typeface="Arial"/>
              </a:defRPr>
            </a:pPr>
            <a:r>
              <a:t>Algorithmic &amp; Model Extensions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LightGBM / CatBoost: Swap XGBoost for faster training on multi-million consumer grids.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Deep Learning Waveform Autoencoders: Add 1D-CNN / LSTM autoencoders on raw 30-min series as a 3rd signal.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t>• Advanced Imbalance Handling: Integrate SMOTE (imbalanced-learn) for grid datasets with &lt;1% theft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7981" y="2011680"/>
            <a:ext cx="4784738" cy="403455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Arial"/>
              </a:defRPr>
            </a:pPr>
            <a:r>
              <a:rPr dirty="0"/>
              <a:t>Platform &amp; Persistence Enhancement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Risk Trajectory Persistence: SQLite scan history tracking rising risk score trends over successive billing cycles.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GIS &amp; Map Integration: Overlay transformer suspect clusters onto spatial GIS map layers.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Automated Inspector Mobile App: Mobile API integration for field inspection teams.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rial"/>
              </a:defRPr>
            </a:pPr>
            <a:r>
              <a:rPr dirty="0"/>
              <a:t>Summary </a:t>
            </a:r>
            <a:r>
              <a:rPr lang="en-IN" dirty="0"/>
              <a:t>&amp; Key </a:t>
            </a:r>
            <a:r>
              <a:rPr dirty="0"/>
              <a:t>Achievements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7463" y="2034072"/>
            <a:ext cx="4726888" cy="380129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06B6D4"/>
                </a:solidFill>
                <a:latin typeface="Arial"/>
              </a:defRPr>
            </a:pPr>
            <a:r>
              <a:rPr dirty="0"/>
              <a:t>Problem &amp; Algorithmic Impact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Solves Real Problem: Reduces $96B+ NTL losses for power utilities.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Dual-Signal ML: </a:t>
            </a:r>
            <a:r>
              <a:rPr dirty="0" err="1"/>
              <a:t>XGBoost</a:t>
            </a:r>
            <a:r>
              <a:rPr dirty="0"/>
              <a:t> (known theft) + Isolation Forest (zero-day anomalies).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Peer Divergence: Eliminates weather false alarms via transformer z-scores.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Explainable AI: SHAP reasons restore human inspector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58649" y="1940766"/>
            <a:ext cx="4726888" cy="39972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10B981"/>
                </a:solidFill>
                <a:latin typeface="Arial"/>
              </a:defRPr>
            </a:pPr>
            <a:r>
              <a:rPr dirty="0"/>
              <a:t> Full-Stack Software Excellence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Modular Backend: </a:t>
            </a:r>
            <a:r>
              <a:rPr dirty="0" err="1"/>
              <a:t>FastAPI</a:t>
            </a:r>
            <a:r>
              <a:rPr dirty="0"/>
              <a:t> REST service with /scan and /score endpoints.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Interactive Frontend: </a:t>
            </a:r>
            <a:r>
              <a:rPr dirty="0" err="1"/>
              <a:t>Streamlit</a:t>
            </a:r>
            <a:r>
              <a:rPr dirty="0"/>
              <a:t> dashboard with </a:t>
            </a:r>
            <a:r>
              <a:rPr dirty="0" err="1"/>
              <a:t>Plotly</a:t>
            </a:r>
            <a:r>
              <a:rPr dirty="0"/>
              <a:t> geographic charts.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Production Ready: Comprehensive feature extraction, schemas, unit tests.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  <a:latin typeface="Arial"/>
              </a:defRPr>
            </a:pPr>
            <a:r>
              <a:rPr dirty="0"/>
              <a:t>• Dataset Agnostic: Supports synthetic testing &amp; real SGCC smart meter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2082</Words>
  <Application>Microsoft Office PowerPoint</Application>
  <PresentationFormat>Widescreen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Shubhayu Bhattacharya</cp:lastModifiedBy>
  <cp:revision>2</cp:revision>
  <dcterms:created xsi:type="dcterms:W3CDTF">2013-01-27T09:14:16Z</dcterms:created>
  <dcterms:modified xsi:type="dcterms:W3CDTF">2026-08-07T14:35:19Z</dcterms:modified>
  <cp:category/>
</cp:coreProperties>
</file>