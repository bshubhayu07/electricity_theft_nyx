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Welcome judges and fellow hackers! Today we present an intelligent, end-to-end Electricity Theft Detection platform. Electricity theft costs utility providers billions annually. Our project combines supervised learning, unsupervised zero-day anomaly detection, and SHAP explainability into a single FastAPI &amp; Streamlit decision-support pipeline.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Why can't we just fit XGBoost on historical labels and call it a day? First, confirmed theft labels are sparse and biased—they only represent what inspectors caught in the past. Second, utility operators need clear reasons, not black-box scores, before dispatching field crews.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Our framework solves both problems by pairing a supervised XGBoost classifier with an unsupervised Isolation Forest. Plus, every prediction is powered by SHAP TreeExplainer to break down the exact drivers.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Here is our clean, production-ready Python backend. Raw consumption data flows into our feature engineering pipeline, through the ensemble and SHAP engine, and is served via FastAPI endpoints to a Streamlit UI.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Raw usage series alone isn't enough. We engineer 15 domain features spanning distribution, tamper bypass streaks, weekly periodicity disruption, and crucial transformer peer divergence.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Our composite risk score combines supervised and anomaly signals. Reporting both components separately prevents false accusations—an account with high anomaly but low supervised score is triaged as 'needs human review' rather than a definitive theft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The Streamlit UI gives utility operators actionable insights. With SHAP explanations, inspectors instantly understand why an account was flagged before setting foot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We provide an out-of-the-box synthetic generator for quick deployment, and our codebase drops directly into standard industry benchmarks like the 42,000-consumer SGCC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In a real pitch, honesty builds trust. Real grid data is messier than synthetic demos, peer comparison requires correct feeder topology, and our tool is designed for human decision support, not automatic billing fines.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 In conclusion, we have built a complete, transparent, dual-signal theft detection pipeline that brings AI trust and efficiency to smart grids.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657600"/>
          </a:xfrm>
          <a:prstGeom prst="rect">
            <a:avLst/>
          </a:prstGeom>
          <a:noFill/>
        </p:spPr>
        <p:txBody>
          <a:bodyPr wrap="square">
            <a:spAutoFit/>
          </a:bodyPr>
          <a:lstStyle/>
          <a:p>
            <a:pPr>
              <a:spcAft>
                <a:spcPts val="1400"/>
              </a:spcAft>
              <a:defRPr sz="3600" b="1">
                <a:solidFill>
                  <a:srgbClr val="06B6D4"/>
                </a:solidFill>
              </a:defRPr>
            </a:pPr>
            <a:r>
              <a:t>⚡ ELECTRICITY THEFT DETECTION</a:t>
            </a:r>
          </a:p>
          <a:p>
            <a:pPr>
              <a:spcAft>
                <a:spcPts val="2400"/>
              </a:spcAft>
              <a:defRPr sz="2200" b="1">
                <a:solidFill>
                  <a:srgbClr val="F8FAFC"/>
                </a:solidFill>
              </a:defRPr>
            </a:pPr>
            <a:r>
              <a:t>Dual-Signal Machine Learning &amp; Explainable AI (XAI) for Smart Meter Data</a:t>
            </a:r>
          </a:p>
          <a:p>
            <a:pPr>
              <a:defRPr sz="1600">
                <a:solidFill>
                  <a:srgbClr val="94A3B8"/>
                </a:solidFill>
              </a:defRPr>
            </a:pPr>
            <a:r>
              <a:t>Combining Supervised XGBoost + Unsupervised Isolation Forest + SHAP Explanations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The Problem: Flaws in Traditional Theft Detection</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1. Sparse &amp; Biased Ground Truth</a:t>
            </a:r>
          </a:p>
          <a:p>
            <a:pPr>
              <a:spcAft>
                <a:spcPts val="800"/>
              </a:spcAft>
              <a:defRPr sz="1300">
                <a:solidFill>
                  <a:srgbClr val="F8FAFC"/>
                </a:solidFill>
                <a:latin typeface="Arial"/>
              </a:defRPr>
            </a:pPr>
            <a:r>
              <a:t>• Historical theft labels are severely incomplete.</a:t>
            </a:r>
          </a:p>
          <a:p>
            <a:pPr>
              <a:spcAft>
                <a:spcPts val="800"/>
              </a:spcAft>
              <a:defRPr sz="1300">
                <a:solidFill>
                  <a:srgbClr val="F8FAFC"/>
                </a:solidFill>
                <a:latin typeface="Arial"/>
              </a:defRPr>
            </a:pPr>
            <a:r>
              <a:t>• Models trained ONLY on past labels only learn what inspectors already knew.</a:t>
            </a:r>
          </a:p>
          <a:p>
            <a:pPr>
              <a:spcAft>
                <a:spcPts val="800"/>
              </a:spcAft>
              <a:defRPr sz="1300">
                <a:solidFill>
                  <a:srgbClr val="F8FAFC"/>
                </a:solidFill>
                <a:latin typeface="Arial"/>
              </a:defRPr>
            </a:pPr>
            <a:r>
              <a:t>• Novel meter bypasses ('zero-day theft') go completely undetected.</a:t>
            </a:r>
          </a:p>
          <a:p>
            <a:pPr>
              <a:spcAft>
                <a:spcPts val="800"/>
              </a:spcAft>
              <a:defRPr sz="1300">
                <a:solidFill>
                  <a:srgbClr val="F8FAFC"/>
                </a:solidFill>
                <a:latin typeface="Arial"/>
              </a:defRPr>
            </a:pPr>
            <a:r>
              <a:t>• Overfits to known fraud signatures while missing evolving tampering tricks.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2. Black-Box Risk Scores</a:t>
            </a:r>
          </a:p>
          <a:p>
            <a:pPr>
              <a:spcAft>
                <a:spcPts val="800"/>
              </a:spcAft>
              <a:defRPr sz="1300">
                <a:solidFill>
                  <a:srgbClr val="F8FAFC"/>
                </a:solidFill>
                <a:latin typeface="Arial"/>
              </a:defRPr>
            </a:pPr>
            <a:r>
              <a:t>• Utilities receive single raw probability numbers with zero context.</a:t>
            </a:r>
          </a:p>
          <a:p>
            <a:pPr>
              <a:spcAft>
                <a:spcPts val="800"/>
              </a:spcAft>
              <a:defRPr sz="1300">
                <a:solidFill>
                  <a:srgbClr val="F8FAFC"/>
                </a:solidFill>
                <a:latin typeface="Arial"/>
              </a:defRPr>
            </a:pPr>
            <a:r>
              <a:t>• Field inspections are costly and labor-intensive to dispatch.</a:t>
            </a:r>
          </a:p>
          <a:p>
            <a:pPr>
              <a:spcAft>
                <a:spcPts val="800"/>
              </a:spcAft>
              <a:defRPr sz="1300">
                <a:solidFill>
                  <a:srgbClr val="F8FAFC"/>
                </a:solidFill>
                <a:latin typeface="Arial"/>
              </a:defRPr>
            </a:pPr>
            <a:r>
              <a:t>• Without human-readable justifications, inspector trust rapidly degrades.</a:t>
            </a:r>
          </a:p>
          <a:p>
            <a:pPr>
              <a:spcAft>
                <a:spcPts val="800"/>
              </a:spcAft>
              <a:defRPr sz="1300">
                <a:solidFill>
                  <a:srgbClr val="F8FAFC"/>
                </a:solidFill>
                <a:latin typeface="Arial"/>
              </a:defRPr>
            </a:pPr>
            <a:r>
              <a:t>• High false-alarm rates waste field staff time and grid operational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The Solution: Dual-Signal ML + Explainability Engine</a:t>
            </a:r>
          </a:p>
        </p:txBody>
      </p:sp>
      <p:sp>
        <p:nvSpPr>
          <p:cNvPr id="5" name="Rounded Rectangle 4"/>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Supervised Signal</a:t>
            </a:r>
          </a:p>
          <a:p>
            <a:pPr>
              <a:spcAft>
                <a:spcPts val="800"/>
              </a:spcAft>
              <a:defRPr sz="1300">
                <a:solidFill>
                  <a:srgbClr val="F8FAFC"/>
                </a:solidFill>
                <a:latin typeface="Arial"/>
              </a:defRPr>
            </a:pPr>
            <a:r>
              <a:t>• XGBoost (Class-Weighted)</a:t>
            </a:r>
          </a:p>
          <a:p>
            <a:pPr>
              <a:spcAft>
                <a:spcPts val="800"/>
              </a:spcAft>
              <a:defRPr sz="1300">
                <a:solidFill>
                  <a:srgbClr val="F8FAFC"/>
                </a:solidFill>
                <a:latin typeface="Arial"/>
              </a:defRPr>
            </a:pPr>
            <a:r>
              <a:t>• Detects patterns matching historical confirmed theft cases.</a:t>
            </a:r>
          </a:p>
          <a:p>
            <a:pPr>
              <a:spcAft>
                <a:spcPts val="800"/>
              </a:spcAft>
              <a:defRPr sz="1300">
                <a:solidFill>
                  <a:srgbClr val="F8FAFC"/>
                </a:solidFill>
                <a:latin typeface="Arial"/>
              </a:defRPr>
            </a:pPr>
            <a:r>
              <a:t>• Provides precise probability score based on domain features.</a:t>
            </a:r>
          </a:p>
        </p:txBody>
      </p:sp>
      <p:sp>
        <p:nvSpPr>
          <p:cNvPr id="6" name="Rounded Rectangle 5"/>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Unsupervised Signal</a:t>
            </a:r>
          </a:p>
          <a:p>
            <a:pPr>
              <a:spcAft>
                <a:spcPts val="800"/>
              </a:spcAft>
              <a:defRPr sz="1300">
                <a:solidFill>
                  <a:srgbClr val="F8FAFC"/>
                </a:solidFill>
                <a:latin typeface="Arial"/>
              </a:defRPr>
            </a:pPr>
            <a:r>
              <a:t>• Isolation Forest</a:t>
            </a:r>
          </a:p>
          <a:p>
            <a:pPr>
              <a:spcAft>
                <a:spcPts val="800"/>
              </a:spcAft>
              <a:defRPr sz="1300">
                <a:solidFill>
                  <a:srgbClr val="F8FAFC"/>
                </a:solidFill>
                <a:latin typeface="Arial"/>
              </a:defRPr>
            </a:pPr>
            <a:r>
              <a:t>• Flags novel, zero-day statistical anomalies.</a:t>
            </a:r>
          </a:p>
          <a:p>
            <a:pPr>
              <a:spcAft>
                <a:spcPts val="800"/>
              </a:spcAft>
              <a:defRPr sz="1300">
                <a:solidFill>
                  <a:srgbClr val="F8FAFC"/>
                </a:solidFill>
                <a:latin typeface="Arial"/>
              </a:defRPr>
            </a:pPr>
            <a:r>
              <a:t>• Works even without confirmed ground-truth labels.</a:t>
            </a:r>
          </a:p>
        </p:txBody>
      </p:sp>
      <p:sp>
        <p:nvSpPr>
          <p:cNvPr id="7" name="Rounded Rectangle 6"/>
          <p:cNvSpPr/>
          <p:nvPr/>
        </p:nvSpPr>
        <p:spPr>
          <a:xfrm>
            <a:off x="80467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Explainability (XAI)</a:t>
            </a:r>
          </a:p>
          <a:p>
            <a:pPr>
              <a:spcAft>
                <a:spcPts val="800"/>
              </a:spcAft>
              <a:defRPr sz="1300">
                <a:solidFill>
                  <a:srgbClr val="F8FAFC"/>
                </a:solidFill>
                <a:latin typeface="Arial"/>
              </a:defRPr>
            </a:pPr>
            <a:r>
              <a:t>• SHAP TreeExplainer</a:t>
            </a:r>
          </a:p>
          <a:p>
            <a:pPr>
              <a:spcAft>
                <a:spcPts val="800"/>
              </a:spcAft>
              <a:defRPr sz="1300">
                <a:solidFill>
                  <a:srgbClr val="F8FAFC"/>
                </a:solidFill>
                <a:latin typeface="Arial"/>
              </a:defRPr>
            </a:pPr>
            <a:r>
              <a:t>• Generates per-account feature attribution summaries.</a:t>
            </a:r>
          </a:p>
          <a:p>
            <a:pPr>
              <a:spcAft>
                <a:spcPts val="800"/>
              </a:spcAft>
              <a:defRPr sz="1300">
                <a:solidFill>
                  <a:srgbClr val="F8FAFC"/>
                </a:solidFill>
                <a:latin typeface="Arial"/>
              </a:defRPr>
            </a:pPr>
            <a:r>
              <a:t>• Tells inspectors exactly WHY an account was flagged.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System Architecture &amp; API Workflow</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Core Processing Pipeline</a:t>
            </a:r>
          </a:p>
          <a:p>
            <a:pPr>
              <a:spcAft>
                <a:spcPts val="800"/>
              </a:spcAft>
              <a:defRPr sz="1300">
                <a:solidFill>
                  <a:srgbClr val="F8FAFC"/>
                </a:solidFill>
                <a:latin typeface="Arial"/>
              </a:defRPr>
            </a:pPr>
            <a:r>
              <a:t>• 1. Input Data: Smart meter daily readings (long-format CSV / API stream).</a:t>
            </a:r>
          </a:p>
          <a:p>
            <a:pPr>
              <a:spcAft>
                <a:spcPts val="800"/>
              </a:spcAft>
              <a:defRPr sz="1300">
                <a:solidFill>
                  <a:srgbClr val="F8FAFC"/>
                </a:solidFill>
                <a:latin typeface="Arial"/>
              </a:defRPr>
            </a:pPr>
            <a:r>
              <a:t>• 2. Feature Extractor: 15 domain-engineered features computed per consumer.</a:t>
            </a:r>
          </a:p>
          <a:p>
            <a:pPr>
              <a:spcAft>
                <a:spcPts val="800"/>
              </a:spcAft>
              <a:defRPr sz="1300">
                <a:solidFill>
                  <a:srgbClr val="F8FAFC"/>
                </a:solidFill>
                <a:latin typeface="Arial"/>
              </a:defRPr>
            </a:pPr>
            <a:r>
              <a:t>• 3. Ensemble Scorer: Combines XGBoost + Isolation Forest risk components.</a:t>
            </a:r>
          </a:p>
          <a:p>
            <a:pPr>
              <a:spcAft>
                <a:spcPts val="800"/>
              </a:spcAft>
              <a:defRPr sz="1300">
                <a:solidFill>
                  <a:srgbClr val="F8FAFC"/>
                </a:solidFill>
                <a:latin typeface="Arial"/>
              </a:defRPr>
            </a:pPr>
            <a:r>
              <a:t>• 4. SHAP Engine: Extracts top positive &amp; negative force contributors.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Serving &amp; UI Layer</a:t>
            </a:r>
          </a:p>
          <a:p>
            <a:pPr>
              <a:spcAft>
                <a:spcPts val="800"/>
              </a:spcAft>
              <a:defRPr sz="1300">
                <a:solidFill>
                  <a:srgbClr val="F8FAFC"/>
                </a:solidFill>
                <a:latin typeface="Arial"/>
              </a:defRPr>
            </a:pPr>
            <a:r>
              <a:t>• FastAPI Service:</a:t>
            </a:r>
          </a:p>
          <a:p>
            <a:pPr>
              <a:spcAft>
                <a:spcPts val="800"/>
              </a:spcAft>
              <a:defRPr sz="1300">
                <a:solidFill>
                  <a:srgbClr val="F8FAFC"/>
                </a:solidFill>
                <a:latin typeface="Arial"/>
              </a:defRPr>
            </a:pPr>
            <a:r>
              <a:t>•   • POST /scan : Ranks &amp; scores the entire grid population.</a:t>
            </a:r>
          </a:p>
          <a:p>
            <a:pPr>
              <a:spcAft>
                <a:spcPts val="800"/>
              </a:spcAft>
              <a:defRPr sz="1300">
                <a:solidFill>
                  <a:srgbClr val="F8FAFC"/>
                </a:solidFill>
                <a:latin typeface="Arial"/>
              </a:defRPr>
            </a:pPr>
            <a:r>
              <a:t>•   • POST /score : Ad-hoc real-time scoring of raw time-series payload.</a:t>
            </a:r>
          </a:p>
          <a:p>
            <a:pPr>
              <a:spcAft>
                <a:spcPts val="800"/>
              </a:spcAft>
              <a:defRPr sz="1300">
                <a:solidFill>
                  <a:srgbClr val="F8FAFC"/>
                </a:solidFill>
                <a:latin typeface="Arial"/>
              </a:defRPr>
            </a:pPr>
            <a:r>
              <a:t>• Streamlit Dashboard:</a:t>
            </a:r>
          </a:p>
          <a:p>
            <a:pPr>
              <a:spcAft>
                <a:spcPts val="800"/>
              </a:spcAft>
              <a:defRPr sz="1300">
                <a:solidFill>
                  <a:srgbClr val="F8FAFC"/>
                </a:solidFill>
                <a:latin typeface="Arial"/>
              </a:defRPr>
            </a:pPr>
            <a:r>
              <a:t>•   • Interactive risk queues, metric filters, and SHAP reason visualizer.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Domain-Engineered Feature Suite (15 Indicators)</a:t>
            </a:r>
          </a:p>
        </p:txBody>
      </p:sp>
      <p:sp>
        <p:nvSpPr>
          <p:cNvPr id="5" name="Rounded Rectangle 4"/>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Consumption Dynamics</a:t>
            </a:r>
          </a:p>
          <a:p>
            <a:pPr>
              <a:spcAft>
                <a:spcPts val="800"/>
              </a:spcAft>
              <a:defRPr sz="1300">
                <a:solidFill>
                  <a:srgbClr val="F8FAFC"/>
                </a:solidFill>
                <a:latin typeface="Arial"/>
              </a:defRPr>
            </a:pPr>
            <a:r>
              <a:t>• Mean, Std, Skewness, Kurtosis</a:t>
            </a:r>
          </a:p>
          <a:p>
            <a:pPr>
              <a:spcAft>
                <a:spcPts val="800"/>
              </a:spcAft>
              <a:defRPr sz="1300">
                <a:solidFill>
                  <a:srgbClr val="F8FAFC"/>
                </a:solidFill>
                <a:latin typeface="Arial"/>
              </a:defRPr>
            </a:pPr>
            <a:r>
              <a:t>• Coefficient of Variation (CV)</a:t>
            </a:r>
          </a:p>
          <a:p>
            <a:pPr>
              <a:spcAft>
                <a:spcPts val="800"/>
              </a:spcAft>
              <a:defRPr sz="1300">
                <a:solidFill>
                  <a:srgbClr val="F8FAFC"/>
                </a:solidFill>
                <a:latin typeface="Arial"/>
              </a:defRPr>
            </a:pPr>
            <a:r>
              <a:t>• Normalized Trend Slope</a:t>
            </a:r>
          </a:p>
          <a:p>
            <a:pPr>
              <a:spcAft>
                <a:spcPts val="800"/>
              </a:spcAft>
              <a:defRPr sz="1300">
                <a:solidFill>
                  <a:srgbClr val="F8FAFC"/>
                </a:solidFill>
                <a:latin typeface="Arial"/>
              </a:defRPr>
            </a:pPr>
            <a:r>
              <a:t>• Largest Single-Day Drop %</a:t>
            </a:r>
          </a:p>
          <a:p>
            <a:pPr>
              <a:spcAft>
                <a:spcPts val="800"/>
              </a:spcAft>
              <a:defRPr sz="1300">
                <a:solidFill>
                  <a:srgbClr val="F8FAFC"/>
                </a:solidFill>
                <a:latin typeface="Arial"/>
              </a:defRPr>
            </a:pPr>
            <a:r>
              <a:t>• Count of Sudden Drops</a:t>
            </a:r>
          </a:p>
        </p:txBody>
      </p:sp>
      <p:sp>
        <p:nvSpPr>
          <p:cNvPr id="6" name="Rounded Rectangle 5"/>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Bypass &amp; Periodicity</a:t>
            </a:r>
          </a:p>
          <a:p>
            <a:pPr>
              <a:spcAft>
                <a:spcPts val="800"/>
              </a:spcAft>
              <a:defRPr sz="1300">
                <a:solidFill>
                  <a:srgbClr val="F8FAFC"/>
                </a:solidFill>
                <a:latin typeface="Arial"/>
              </a:defRPr>
            </a:pPr>
            <a:r>
              <a:t>• Zero-Consumption Ratio</a:t>
            </a:r>
          </a:p>
          <a:p>
            <a:pPr>
              <a:spcAft>
                <a:spcPts val="800"/>
              </a:spcAft>
              <a:defRPr sz="1300">
                <a:solidFill>
                  <a:srgbClr val="F8FAFC"/>
                </a:solidFill>
                <a:latin typeface="Arial"/>
              </a:defRPr>
            </a:pPr>
            <a:r>
              <a:t>• Longest Zero Streak (bypass signature)</a:t>
            </a:r>
          </a:p>
          <a:p>
            <a:pPr>
              <a:spcAft>
                <a:spcPts val="800"/>
              </a:spcAft>
              <a:defRPr sz="1300">
                <a:solidFill>
                  <a:srgbClr val="F8FAFC"/>
                </a:solidFill>
                <a:latin typeface="Arial"/>
              </a:defRPr>
            </a:pPr>
            <a:r>
              <a:t>• Weekly Autocorrelation</a:t>
            </a:r>
          </a:p>
          <a:p>
            <a:pPr>
              <a:spcAft>
                <a:spcPts val="800"/>
              </a:spcAft>
              <a:defRPr sz="1300">
                <a:solidFill>
                  <a:srgbClr val="F8FAFC"/>
                </a:solidFill>
                <a:latin typeface="Arial"/>
              </a:defRPr>
            </a:pPr>
            <a:r>
              <a:t>• Weekday vs Weekend Ratio (rhythm disruption)</a:t>
            </a:r>
          </a:p>
        </p:txBody>
      </p:sp>
      <p:sp>
        <p:nvSpPr>
          <p:cNvPr id="7" name="Rounded Rectangle 6"/>
          <p:cNvSpPr/>
          <p:nvPr/>
        </p:nvSpPr>
        <p:spPr>
          <a:xfrm>
            <a:off x="80467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Peer Divergence</a:t>
            </a:r>
          </a:p>
          <a:p>
            <a:pPr>
              <a:spcAft>
                <a:spcPts val="800"/>
              </a:spcAft>
              <a:defRPr sz="1300">
                <a:solidFill>
                  <a:srgbClr val="F8FAFC"/>
                </a:solidFill>
                <a:latin typeface="Arial"/>
              </a:defRPr>
            </a:pPr>
            <a:r>
              <a:t>• Transformer-Group Z-Score</a:t>
            </a:r>
          </a:p>
          <a:p>
            <a:pPr>
              <a:spcAft>
                <a:spcPts val="800"/>
              </a:spcAft>
              <a:defRPr sz="1300">
                <a:solidFill>
                  <a:srgbClr val="F8FAFC"/>
                </a:solidFill>
                <a:latin typeface="Arial"/>
              </a:defRPr>
            </a:pPr>
            <a:r>
              <a:t>• Feeder Correlation Score</a:t>
            </a:r>
          </a:p>
          <a:p>
            <a:pPr>
              <a:spcAft>
                <a:spcPts val="800"/>
              </a:spcAft>
              <a:defRPr sz="1300">
                <a:solidFill>
                  <a:srgbClr val="F8FAFC"/>
                </a:solidFill>
                <a:latin typeface="Arial"/>
              </a:defRPr>
            </a:pPr>
            <a:r>
              <a:t>• Controls for weather &amp; season by comparing against immediate transformer neighbors.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Risk Scoring Formula &amp; Disambiguation Matrix</a:t>
            </a:r>
          </a:p>
        </p:txBody>
      </p:sp>
      <p:sp>
        <p:nvSpPr>
          <p:cNvPr id="5" name="Rounded Rectangle 4"/>
          <p:cNvSpPr/>
          <p:nvPr/>
        </p:nvSpPr>
        <p:spPr>
          <a:xfrm>
            <a:off x="731520" y="1645920"/>
            <a:ext cx="10698480" cy="13716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Composite Risk Score Formula</a:t>
            </a:r>
          </a:p>
          <a:p>
            <a:pPr>
              <a:spcAft>
                <a:spcPts val="800"/>
              </a:spcAft>
              <a:defRPr sz="1300">
                <a:solidFill>
                  <a:srgbClr val="F8FAFC"/>
                </a:solidFill>
                <a:latin typeface="Arial"/>
              </a:defRPr>
            </a:pPr>
            <a:r>
              <a:t>• Risk Score = 0.65 * Supervised_Prob + 0.35 * Anomaly_Score</a:t>
            </a:r>
          </a:p>
          <a:p>
            <a:pPr>
              <a:spcAft>
                <a:spcPts val="800"/>
              </a:spcAft>
              <a:defRPr sz="1300">
                <a:solidFill>
                  <a:srgbClr val="F8FAFC"/>
                </a:solidFill>
                <a:latin typeface="Arial"/>
              </a:defRPr>
            </a:pPr>
            <a:r>
              <a:t>• Supervised and Unsupervised components are reported separately to enable precise decision support.</a:t>
            </a:r>
          </a:p>
        </p:txBody>
      </p:sp>
      <p:sp>
        <p:nvSpPr>
          <p:cNvPr id="6" name="Rounded Rectangle 5"/>
          <p:cNvSpPr/>
          <p:nvPr/>
        </p:nvSpPr>
        <p:spPr>
          <a:xfrm>
            <a:off x="731520" y="3291840"/>
            <a:ext cx="512064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High Supervised + High Anomaly</a:t>
            </a:r>
          </a:p>
          <a:p>
            <a:pPr>
              <a:spcAft>
                <a:spcPts val="800"/>
              </a:spcAft>
              <a:defRPr sz="1300">
                <a:solidFill>
                  <a:srgbClr val="F8FAFC"/>
                </a:solidFill>
                <a:latin typeface="Arial"/>
              </a:defRPr>
            </a:pPr>
            <a:r>
              <a:t>• CLASSIFICATION: High-Confidence Theft Flag</a:t>
            </a:r>
          </a:p>
          <a:p>
            <a:pPr>
              <a:spcAft>
                <a:spcPts val="800"/>
              </a:spcAft>
              <a:defRPr sz="1300">
                <a:solidFill>
                  <a:srgbClr val="F8FAFC"/>
                </a:solidFill>
                <a:latin typeface="Arial"/>
              </a:defRPr>
            </a:pPr>
            <a:r>
              <a:t>• ACTION: Immediate dispatch for physical inspection.</a:t>
            </a:r>
          </a:p>
          <a:p>
            <a:pPr>
              <a:spcAft>
                <a:spcPts val="800"/>
              </a:spcAft>
              <a:defRPr sz="1300">
                <a:solidFill>
                  <a:srgbClr val="F8FAFC"/>
                </a:solidFill>
                <a:latin typeface="Arial"/>
              </a:defRPr>
            </a:pPr>
            <a:r>
              <a:t>• SIGNATURE: Known tampering pattern with strong statistical outlier metrics.</a:t>
            </a:r>
          </a:p>
        </p:txBody>
      </p:sp>
      <p:sp>
        <p:nvSpPr>
          <p:cNvPr id="7" name="Rounded Rectangle 6"/>
          <p:cNvSpPr/>
          <p:nvPr/>
        </p:nvSpPr>
        <p:spPr>
          <a:xfrm>
            <a:off x="6309360" y="3291840"/>
            <a:ext cx="512064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Low Supervised + High Anomaly</a:t>
            </a:r>
          </a:p>
          <a:p>
            <a:pPr>
              <a:spcAft>
                <a:spcPts val="800"/>
              </a:spcAft>
              <a:defRPr sz="1300">
                <a:solidFill>
                  <a:srgbClr val="F8FAFC"/>
                </a:solidFill>
                <a:latin typeface="Arial"/>
              </a:defRPr>
            </a:pPr>
            <a:r>
              <a:t>• CLASSIFICATION: Novel / Zero-Day Pattern</a:t>
            </a:r>
          </a:p>
          <a:p>
            <a:pPr>
              <a:spcAft>
                <a:spcPts val="800"/>
              </a:spcAft>
              <a:defRPr sz="1300">
                <a:solidFill>
                  <a:srgbClr val="F8FAFC"/>
                </a:solidFill>
                <a:latin typeface="Arial"/>
              </a:defRPr>
            </a:pPr>
            <a:r>
              <a:t>• ACTION: Flagged for Human Utility Review (Not automatic theft).</a:t>
            </a:r>
          </a:p>
          <a:p>
            <a:pPr>
              <a:spcAft>
                <a:spcPts val="800"/>
              </a:spcAft>
              <a:defRPr sz="1300">
                <a:solidFill>
                  <a:srgbClr val="F8FAFC"/>
                </a:solidFill>
                <a:latin typeface="Arial"/>
              </a:defRPr>
            </a:pPr>
            <a:r>
              <a:t>• SIGNATURE: Unusual usage (vacant home or new tampering method).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Explainable AI (SHAP) &amp; Interactive Dashboard</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SHAP Reason Generator</a:t>
            </a:r>
          </a:p>
          <a:p>
            <a:pPr>
              <a:spcAft>
                <a:spcPts val="800"/>
              </a:spcAft>
              <a:defRPr sz="1300">
                <a:solidFill>
                  <a:srgbClr val="F8FAFC"/>
                </a:solidFill>
                <a:latin typeface="Arial"/>
              </a:defRPr>
            </a:pPr>
            <a:r>
              <a:t>• Integrated SHAP TreeExplainer per API request.</a:t>
            </a:r>
          </a:p>
          <a:p>
            <a:pPr>
              <a:spcAft>
                <a:spcPts val="800"/>
              </a:spcAft>
              <a:defRPr sz="1300">
                <a:solidFill>
                  <a:srgbClr val="F8FAFC"/>
                </a:solidFill>
                <a:latin typeface="Arial"/>
              </a:defRPr>
            </a:pPr>
            <a:r>
              <a:t>• Ranks top features driving the risk score up or down.</a:t>
            </a:r>
          </a:p>
          <a:p>
            <a:pPr>
              <a:spcAft>
                <a:spcPts val="800"/>
              </a:spcAft>
              <a:defRPr sz="1300">
                <a:solidFill>
                  <a:srgbClr val="F8FAFC"/>
                </a:solidFill>
                <a:latin typeface="Arial"/>
              </a:defRPr>
            </a:pPr>
            <a:r>
              <a:t>• Translates mathematical weights into plain English explanations.</a:t>
            </a:r>
          </a:p>
          <a:p>
            <a:pPr>
              <a:spcAft>
                <a:spcPts val="800"/>
              </a:spcAft>
              <a:defRPr sz="1300">
                <a:solidFill>
                  <a:srgbClr val="F8FAFC"/>
                </a:solidFill>
                <a:latin typeface="Arial"/>
              </a:defRPr>
            </a:pPr>
            <a:r>
              <a:t>• Example: 'Account flagged due to 12 consecutive zero-usage days and +3.1 Transformer divergence.'</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Operator Decision UI</a:t>
            </a:r>
          </a:p>
          <a:p>
            <a:pPr>
              <a:spcAft>
                <a:spcPts val="800"/>
              </a:spcAft>
              <a:defRPr sz="1300">
                <a:solidFill>
                  <a:srgbClr val="F8FAFC"/>
                </a:solidFill>
                <a:latin typeface="Arial"/>
              </a:defRPr>
            </a:pPr>
            <a:r>
              <a:t>• Real-time grid population scanning via FastAPI `/scan`.</a:t>
            </a:r>
          </a:p>
          <a:p>
            <a:pPr>
              <a:spcAft>
                <a:spcPts val="800"/>
              </a:spcAft>
              <a:defRPr sz="1300">
                <a:solidFill>
                  <a:srgbClr val="F8FAFC"/>
                </a:solidFill>
                <a:latin typeface="Arial"/>
              </a:defRPr>
            </a:pPr>
            <a:r>
              <a:t>• Interactive consumer inspection queues ranked by risk.</a:t>
            </a:r>
          </a:p>
          <a:p>
            <a:pPr>
              <a:spcAft>
                <a:spcPts val="800"/>
              </a:spcAft>
              <a:defRPr sz="1300">
                <a:solidFill>
                  <a:srgbClr val="F8FAFC"/>
                </a:solidFill>
                <a:latin typeface="Arial"/>
              </a:defRPr>
            </a:pPr>
            <a:r>
              <a:t>• Raw daily consumption overlay charts with neighbor averages.</a:t>
            </a:r>
          </a:p>
          <a:p>
            <a:pPr>
              <a:spcAft>
                <a:spcPts val="800"/>
              </a:spcAft>
              <a:defRPr sz="1300">
                <a:solidFill>
                  <a:srgbClr val="F8FAFC"/>
                </a:solidFill>
                <a:latin typeface="Arial"/>
              </a:defRPr>
            </a:pPr>
            <a:r>
              <a:t>• Exportable audit logs for field deployment teams.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Datasets: Synthetic Quickstart &amp; Real Benchmarks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Synthetic Data Generator</a:t>
            </a:r>
          </a:p>
          <a:p>
            <a:pPr>
              <a:spcAft>
                <a:spcPts val="800"/>
              </a:spcAft>
              <a:defRPr sz="1300">
                <a:solidFill>
                  <a:srgbClr val="F8FAFC"/>
                </a:solidFill>
                <a:latin typeface="Arial"/>
              </a:defRPr>
            </a:pPr>
            <a:r>
              <a:t>• Built-in generator for instant zero-dependency setup.</a:t>
            </a:r>
          </a:p>
          <a:p>
            <a:pPr>
              <a:spcAft>
                <a:spcPts val="800"/>
              </a:spcAft>
              <a:defRPr sz="1300">
                <a:solidFill>
                  <a:srgbClr val="F8FAFC"/>
                </a:solidFill>
                <a:latin typeface="Arial"/>
              </a:defRPr>
            </a:pPr>
            <a:r>
              <a:t>• Simulates normal load profiles, drop-offs, and bypasses.</a:t>
            </a:r>
          </a:p>
          <a:p>
            <a:pPr>
              <a:spcAft>
                <a:spcPts val="800"/>
              </a:spcAft>
              <a:defRPr sz="1300">
                <a:solidFill>
                  <a:srgbClr val="F8FAFC"/>
                </a:solidFill>
                <a:latin typeface="Arial"/>
              </a:defRPr>
            </a:pPr>
            <a:r>
              <a:t>• Used for automated CI/CD unit testing &amp; quick demo verification.</a:t>
            </a:r>
          </a:p>
          <a:p>
            <a:pPr>
              <a:spcAft>
                <a:spcPts val="800"/>
              </a:spcAft>
              <a:defRPr sz="1300">
                <a:solidFill>
                  <a:srgbClr val="F8FAFC"/>
                </a:solidFill>
                <a:latin typeface="Arial"/>
              </a:defRPr>
            </a:pPr>
            <a:r>
              <a:t>• Reaches high ROC-AUC on clean benchmark scenarios.</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Real-World Public Benchmarks</a:t>
            </a:r>
          </a:p>
          <a:p>
            <a:pPr>
              <a:spcAft>
                <a:spcPts val="800"/>
              </a:spcAft>
              <a:defRPr sz="1300">
                <a:solidFill>
                  <a:srgbClr val="F8FAFC"/>
                </a:solidFill>
                <a:latin typeface="Arial"/>
              </a:defRPr>
            </a:pPr>
            <a:r>
              <a:t>• SGCC Benchmark (State Grid Corp of China):</a:t>
            </a:r>
          </a:p>
          <a:p>
            <a:pPr>
              <a:spcAft>
                <a:spcPts val="800"/>
              </a:spcAft>
              <a:defRPr sz="1300">
                <a:solidFill>
                  <a:srgbClr val="F8FAFC"/>
                </a:solidFill>
                <a:latin typeface="Arial"/>
              </a:defRPr>
            </a:pPr>
            <a:r>
              <a:t>•   • 42,372 consumers, 3,615 confirmed theft cases (IEEE TII standard).</a:t>
            </a:r>
          </a:p>
          <a:p>
            <a:pPr>
              <a:spcAft>
                <a:spcPts val="800"/>
              </a:spcAft>
              <a:defRPr sz="1300">
                <a:solidFill>
                  <a:srgbClr val="F8FAFC"/>
                </a:solidFill>
                <a:latin typeface="Arial"/>
              </a:defRPr>
            </a:pPr>
            <a:r>
              <a:t>•   • Plug-and-play format via simple melt transformation.</a:t>
            </a:r>
          </a:p>
          <a:p>
            <a:pPr>
              <a:spcAft>
                <a:spcPts val="800"/>
              </a:spcAft>
              <a:defRPr sz="1300">
                <a:solidFill>
                  <a:srgbClr val="F8FAFC"/>
                </a:solidFill>
                <a:latin typeface="Arial"/>
              </a:defRPr>
            </a:pPr>
            <a:r>
              <a:t>• PRECON &amp; Irish CER Datasets:</a:t>
            </a:r>
          </a:p>
          <a:p>
            <a:pPr>
              <a:spcAft>
                <a:spcPts val="800"/>
              </a:spcAft>
              <a:defRPr sz="1300">
                <a:solidFill>
                  <a:srgbClr val="F8FAFC"/>
                </a:solidFill>
                <a:latin typeface="Arial"/>
              </a:defRPr>
            </a:pPr>
            <a:r>
              <a:t>•   • High-frequency smart meter data for 30-minute interval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Honest Caveats &amp; Q&amp;A Readiness</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Technical &amp; Data Realities</a:t>
            </a:r>
          </a:p>
          <a:p>
            <a:pPr>
              <a:spcAft>
                <a:spcPts val="800"/>
              </a:spcAft>
              <a:defRPr sz="1300">
                <a:solidFill>
                  <a:srgbClr val="F8FAFC"/>
                </a:solidFill>
                <a:latin typeface="Arial"/>
              </a:defRPr>
            </a:pPr>
            <a:r>
              <a:t>• Synthetic vs. Real Noise: Synthetic data is cleanly separable (~1.0 AUC); real-world grid data is significantly messier.</a:t>
            </a:r>
          </a:p>
          <a:p>
            <a:pPr>
              <a:spcAft>
                <a:spcPts val="800"/>
              </a:spcAft>
              <a:defRPr sz="1300">
                <a:solidFill>
                  <a:srgbClr val="F8FAFC"/>
                </a:solidFill>
                <a:latin typeface="Arial"/>
              </a:defRPr>
            </a:pPr>
            <a:r>
              <a:t>• Topology Reliance: Peer comparisons rely on accurate transformer mapping. Bad feeder data affects z-scores.</a:t>
            </a:r>
          </a:p>
          <a:p>
            <a:pPr>
              <a:spcAft>
                <a:spcPts val="800"/>
              </a:spcAft>
              <a:defRPr sz="1300">
                <a:solidFill>
                  <a:srgbClr val="F8FAFC"/>
                </a:solidFill>
                <a:latin typeface="Arial"/>
              </a:defRPr>
            </a:pPr>
            <a:r>
              <a:t>• Vacant Property Outliers: Anomaly detection flags vacant/relocated homes—hence the need for human review.</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Deployment &amp; Policy Guidelines</a:t>
            </a:r>
          </a:p>
          <a:p>
            <a:pPr>
              <a:spcAft>
                <a:spcPts val="800"/>
              </a:spcAft>
              <a:defRPr sz="1300">
                <a:solidFill>
                  <a:srgbClr val="F8FAFC"/>
                </a:solidFill>
                <a:latin typeface="Arial"/>
              </a:defRPr>
            </a:pPr>
            <a:r>
              <a:t>• Decision Support Tool: The system assists human inspectors; it is NOT an automated legal/billing penalty engine.</a:t>
            </a:r>
          </a:p>
          <a:p>
            <a:pPr>
              <a:spcAft>
                <a:spcPts val="800"/>
              </a:spcAft>
              <a:defRPr sz="1300">
                <a:solidFill>
                  <a:srgbClr val="F8FAFC"/>
                </a:solidFill>
                <a:latin typeface="Arial"/>
              </a:defRPr>
            </a:pPr>
            <a:r>
              <a:t>• Feedback Loop: Field inspection results feed back into retraining the supervised XGBoost model.</a:t>
            </a:r>
          </a:p>
          <a:p>
            <a:pPr>
              <a:spcAft>
                <a:spcPts val="800"/>
              </a:spcAft>
              <a:defRPr sz="1300">
                <a:solidFill>
                  <a:srgbClr val="F8FAFC"/>
                </a:solidFill>
                <a:latin typeface="Arial"/>
              </a:defRPr>
            </a:pPr>
            <a:r>
              <a:t>• Privacy &amp; Governance: Operates on anonymized consumption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HACKATHON PITCH DECK</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8FAFC"/>
                </a:solidFill>
                <a:latin typeface="Arial"/>
              </a:defRPr>
            </a:pPr>
            <a:r>
              <a:t>Roadmap &amp; Hackathon Summary</a:t>
            </a:r>
          </a:p>
        </p:txBody>
      </p:sp>
      <p:sp>
        <p:nvSpPr>
          <p:cNvPr id="5" name="Rounded Rectangle 4"/>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Future Extensions</a:t>
            </a:r>
          </a:p>
          <a:p>
            <a:pPr>
              <a:spcAft>
                <a:spcPts val="800"/>
              </a:spcAft>
              <a:defRPr sz="1300">
                <a:solidFill>
                  <a:srgbClr val="F8FAFC"/>
                </a:solidFill>
                <a:latin typeface="Arial"/>
              </a:defRPr>
            </a:pPr>
            <a:r>
              <a:t>• Model Swaps: LightGBM / CatBoost for large-scale grid datasets.</a:t>
            </a:r>
          </a:p>
          <a:p>
            <a:pPr>
              <a:spcAft>
                <a:spcPts val="800"/>
              </a:spcAft>
              <a:defRPr sz="1300">
                <a:solidFill>
                  <a:srgbClr val="F8FAFC"/>
                </a:solidFill>
                <a:latin typeface="Arial"/>
              </a:defRPr>
            </a:pPr>
            <a:r>
              <a:t>• Deep Learning Signal: 1D-CNN / LSTM autoencoders on raw temporal waveforms to capture complex temporal anomalies.</a:t>
            </a:r>
          </a:p>
          <a:p>
            <a:pPr>
              <a:spcAft>
                <a:spcPts val="800"/>
              </a:spcAft>
              <a:defRPr sz="1300">
                <a:solidFill>
                  <a:srgbClr val="F8FAFC"/>
                </a:solidFill>
                <a:latin typeface="Arial"/>
              </a:defRPr>
            </a:pPr>
            <a:r>
              <a:t>• Risk Trajectory Tracking: SQLite persistence for monitoring rising risk scores over successive scan cycles.</a:t>
            </a:r>
          </a:p>
          <a:p>
            <a:pPr>
              <a:spcAft>
                <a:spcPts val="800"/>
              </a:spcAft>
              <a:defRPr sz="1300">
                <a:solidFill>
                  <a:srgbClr val="F8FAFC"/>
                </a:solidFill>
                <a:latin typeface="Arial"/>
              </a:defRPr>
            </a:pPr>
            <a:r>
              <a:t>• Advanced Imbalance Handling: SMOTE for datasets with &lt;1% theft ratio.</a:t>
            </a:r>
          </a:p>
        </p:txBody>
      </p:sp>
      <p:sp>
        <p:nvSpPr>
          <p:cNvPr id="6" name="Rounded Rectangle 5"/>
          <p:cNvSpPr/>
          <p:nvPr/>
        </p:nvSpPr>
        <p:spPr>
          <a:xfrm>
            <a:off x="630936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200"/>
              </a:spcAft>
              <a:defRPr sz="1800" b="1">
                <a:solidFill>
                  <a:srgbClr val="06B6D4"/>
                </a:solidFill>
                <a:latin typeface="Arial"/>
              </a:defRPr>
            </a:pPr>
            <a:r>
              <a:t>Key Takeaways for Judges</a:t>
            </a:r>
          </a:p>
          <a:p>
            <a:pPr>
              <a:spcAft>
                <a:spcPts val="800"/>
              </a:spcAft>
              <a:defRPr sz="1300">
                <a:solidFill>
                  <a:srgbClr val="F8FAFC"/>
                </a:solidFill>
                <a:latin typeface="Arial"/>
              </a:defRPr>
            </a:pPr>
            <a:r>
              <a:t>• Dual-Signal Intelligence: Catches both historical theft &amp; zero-day tampering.</a:t>
            </a:r>
          </a:p>
          <a:p>
            <a:pPr>
              <a:spcAft>
                <a:spcPts val="800"/>
              </a:spcAft>
              <a:defRPr sz="1300">
                <a:solidFill>
                  <a:srgbClr val="F8FAFC"/>
                </a:solidFill>
                <a:latin typeface="Arial"/>
              </a:defRPr>
            </a:pPr>
            <a:r>
              <a:t>• Explainable AI: SHAP reasons bridge the gap between ML outputs and field inspectors.</a:t>
            </a:r>
          </a:p>
          <a:p>
            <a:pPr>
              <a:spcAft>
                <a:spcPts val="800"/>
              </a:spcAft>
              <a:defRPr sz="1300">
                <a:solidFill>
                  <a:srgbClr val="F8FAFC"/>
                </a:solidFill>
                <a:latin typeface="Arial"/>
              </a:defRPr>
            </a:pPr>
            <a:r>
              <a:t>• Production Ready: Modular FastAPI backend &amp; interactive Streamlit operator UI.</a:t>
            </a:r>
          </a:p>
          <a:p>
            <a:pPr>
              <a:spcAft>
                <a:spcPts val="800"/>
              </a:spcAft>
              <a:defRPr sz="1300">
                <a:solidFill>
                  <a:srgbClr val="F8FAFC"/>
                </a:solidFill>
                <a:latin typeface="Arial"/>
              </a:defRPr>
            </a:pPr>
            <a:r>
              <a:t>• Open &amp; Extensible: Ready for SGCC and real smart grid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